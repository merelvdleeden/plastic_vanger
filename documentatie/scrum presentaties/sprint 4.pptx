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5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272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7781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6801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646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606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8977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719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3260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69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51329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3584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7557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696290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7130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16465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2029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C25CC-EE5A-4361-84C3-61943080B292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56C544E-C080-4996-8A78-47A8B0C5938F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813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B43E86-3637-886C-4718-A7B1A50DE4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Plasticvanger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CFF8621-0E87-0A56-6361-932378D6D8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62805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BC202-3FF4-CE3E-8084-8B10EEED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Inleiding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808454A-0D24-6985-6058-7F9E03EAD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Vorige sprint</a:t>
            </a:r>
          </a:p>
          <a:p>
            <a:r>
              <a:rPr lang="nl-NL" dirty="0" err="1"/>
              <a:t>Raspberry</a:t>
            </a:r>
            <a:r>
              <a:rPr lang="nl-NL" dirty="0"/>
              <a:t> pi 4</a:t>
            </a:r>
          </a:p>
          <a:p>
            <a:r>
              <a:rPr lang="nl-NL" dirty="0"/>
              <a:t>Windsnelheid sensor</a:t>
            </a:r>
          </a:p>
          <a:p>
            <a:r>
              <a:rPr lang="nl-NL" dirty="0"/>
              <a:t>Windrichting sensor</a:t>
            </a:r>
          </a:p>
          <a:p>
            <a:r>
              <a:rPr lang="nl-NL" dirty="0"/>
              <a:t>Onderzoek behuizing</a:t>
            </a:r>
          </a:p>
          <a:p>
            <a:r>
              <a:rPr lang="nl-NL" dirty="0"/>
              <a:t>Risico analyse</a:t>
            </a:r>
          </a:p>
          <a:p>
            <a:r>
              <a:rPr lang="nl-NL" dirty="0"/>
              <a:t>Sprint 5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63957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7F08F1-291D-AC96-8489-EDFD42975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Vorige sprint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9BB8FA-1D33-AD43-DDC5-9934A0ACE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Sensoren zijn </a:t>
            </a:r>
            <a:r>
              <a:rPr lang="nl-NL" dirty="0" err="1"/>
              <a:t>opgehaalt</a:t>
            </a:r>
            <a:endParaRPr lang="nl-NL" dirty="0"/>
          </a:p>
        </p:txBody>
      </p:sp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3C2709FD-A52E-A87A-F65A-90DD9C898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694571"/>
              </p:ext>
            </p:extLst>
          </p:nvPr>
        </p:nvGraphicFramePr>
        <p:xfrm>
          <a:off x="3853682" y="1158240"/>
          <a:ext cx="812800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5030210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63980556"/>
                    </a:ext>
                  </a:extLst>
                </a:gridCol>
              </a:tblGrid>
              <a:tr h="362918">
                <a:tc>
                  <a:txBody>
                    <a:bodyPr/>
                    <a:lstStyle/>
                    <a:p>
                      <a:r>
                        <a:rPr lang="en-US" dirty="0"/>
                        <a:t>User story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taak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314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1.1 Ik wil dat er een sensor is die de windsnelheid meet zodat ik de data van de windsnelheid kan krijgen.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1.1.4 Kalibreer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302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4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1.2 Ik wil dat de windsnelheid gemeten word vanuit het weerstation.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1.2.1 Integreer de </a:t>
                      </a:r>
                      <a:r>
                        <a:rPr lang="nl-NL" sz="1400" b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windssnelheids</a:t>
                      </a: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sensor met de micro controller.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1.2.2 Maak een elektrisch schema van het weerstation.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1.2.3 Test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31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2.1 Ik wil dat er een sensor is die de windrichting meet zodat ik de data van de windrichting kan krijgen.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2.1.4 Kalibeer de windrichting sensor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046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 ik wil dat de windrichting gemeten word vanuit het weerstation.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2.2.1 Integreer de windrichting sensor met de micro controller.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2.2.2 Maak een elektrisch schema van het weerstation.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2.2.3 Test de windrichting sensor.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050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 Ik wil dat het weerstation altijd buiten kan blijven zonder dat ik me zorgen hoef te maken dat die kapot gaat.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4.1.2 Maak een schets van de behuizing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4.1.3 Ontwerp de behuizing.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38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217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231C79-E1E7-1584-AA10-92CAA3130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 4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1043D1-F29E-CE2D-3E0F-11B1F4575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09119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320B75-FEFB-64E7-1E78-E6330C9E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Windsnelheid sensor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CAC0202-7AC0-6C51-96A4-F25AD13AF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Onderdeel bestellen</a:t>
            </a:r>
          </a:p>
        </p:txBody>
      </p:sp>
    </p:spTree>
    <p:extLst>
      <p:ext uri="{BB962C8B-B14F-4D97-AF65-F5344CB8AC3E}">
        <p14:creationId xmlns:p14="http://schemas.microsoft.com/office/powerpoint/2010/main" val="297703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746105-3A9C-DF7F-306B-52E32E4F5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Windrichting sensor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9103623-D0E7-E767-CB33-737B30D5A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Onderdeel werkt niet</a:t>
            </a:r>
          </a:p>
          <a:p>
            <a:r>
              <a:rPr lang="nl-NL" dirty="0"/>
              <a:t>Ander onderdeel bestellen</a:t>
            </a:r>
          </a:p>
        </p:txBody>
      </p:sp>
    </p:spTree>
    <p:extLst>
      <p:ext uri="{BB962C8B-B14F-4D97-AF65-F5344CB8AC3E}">
        <p14:creationId xmlns:p14="http://schemas.microsoft.com/office/powerpoint/2010/main" val="1360025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lmo Fire GIFs | Tenor">
            <a:extLst>
              <a:ext uri="{FF2B5EF4-FFF2-40B4-BE49-F238E27FC236}">
                <a16:creationId xmlns:a16="http://schemas.microsoft.com/office/drawing/2014/main" id="{F84A9857-CBEA-66B6-D79B-D7932C6528D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4" r="16084" b="1"/>
          <a:stretch>
            <a:fillRect/>
          </a:stretch>
        </p:blipFill>
        <p:spPr bwMode="auto">
          <a:xfrm>
            <a:off x="888603" y="1261330"/>
            <a:ext cx="4973212" cy="4335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A5AFB369-4673-4727-A7CD-D86AFE0AE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032" name="Freeform 14">
              <a:extLst>
                <a:ext uri="{FF2B5EF4-FFF2-40B4-BE49-F238E27FC236}">
                  <a16:creationId xmlns:a16="http://schemas.microsoft.com/office/drawing/2014/main" id="{50709826-4D6B-4A97-8DB3-5DA1666262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47263F58-6EE6-45B3-9BF2-C0BD5D30A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4" name="Straight Connector 1033">
              <a:extLst>
                <a:ext uri="{FF2B5EF4-FFF2-40B4-BE49-F238E27FC236}">
                  <a16:creationId xmlns:a16="http://schemas.microsoft.com/office/drawing/2014/main" id="{5197CE03-EB81-4718-BEA1-C2D488961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Rectangle 23">
              <a:extLst>
                <a:ext uri="{FF2B5EF4-FFF2-40B4-BE49-F238E27FC236}">
                  <a16:creationId xmlns:a16="http://schemas.microsoft.com/office/drawing/2014/main" id="{A3451629-72D6-4E33-A99A-40FAF7445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6" name="Rectangle 25">
              <a:extLst>
                <a:ext uri="{FF2B5EF4-FFF2-40B4-BE49-F238E27FC236}">
                  <a16:creationId xmlns:a16="http://schemas.microsoft.com/office/drawing/2014/main" id="{E04F0FD4-BCD5-4435-A6B5-A2E69303B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7" name="Isosceles Triangle 1036">
              <a:extLst>
                <a:ext uri="{FF2B5EF4-FFF2-40B4-BE49-F238E27FC236}">
                  <a16:creationId xmlns:a16="http://schemas.microsoft.com/office/drawing/2014/main" id="{DE110F09-1C81-4E73-B5E9-D857CD879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8" name="Rectangle 27">
              <a:extLst>
                <a:ext uri="{FF2B5EF4-FFF2-40B4-BE49-F238E27FC236}">
                  <a16:creationId xmlns:a16="http://schemas.microsoft.com/office/drawing/2014/main" id="{273A9C01-06BD-4E8E-8BBF-2E2A9ECF4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39" name="Rectangle 28">
              <a:extLst>
                <a:ext uri="{FF2B5EF4-FFF2-40B4-BE49-F238E27FC236}">
                  <a16:creationId xmlns:a16="http://schemas.microsoft.com/office/drawing/2014/main" id="{B206C9B2-27BE-4B6F-A4D0-485FBBEB5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40" name="Rectangle 29">
              <a:extLst>
                <a:ext uri="{FF2B5EF4-FFF2-40B4-BE49-F238E27FC236}">
                  <a16:creationId xmlns:a16="http://schemas.microsoft.com/office/drawing/2014/main" id="{2E7D673E-0C5C-4F2B-B46E-3E9286B9E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  <p:sp>
          <p:nvSpPr>
            <p:cNvPr id="1041" name="Isosceles Triangle 1040">
              <a:extLst>
                <a:ext uri="{FF2B5EF4-FFF2-40B4-BE49-F238E27FC236}">
                  <a16:creationId xmlns:a16="http://schemas.microsoft.com/office/drawing/2014/main" id="{F0F78B34-9B26-4CA9-B8F0-B9638730F9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NL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A148CC3-E902-049A-7CC2-E64C272CD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56" y="1680201"/>
            <a:ext cx="3179146" cy="23675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4600"/>
              <a:t>Onderzoek behuizing</a:t>
            </a:r>
          </a:p>
        </p:txBody>
      </p:sp>
    </p:spTree>
    <p:extLst>
      <p:ext uri="{BB962C8B-B14F-4D97-AF65-F5344CB8AC3E}">
        <p14:creationId xmlns:p14="http://schemas.microsoft.com/office/powerpoint/2010/main" val="914693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CFA11A-B252-5C99-1AEE-D29A8E714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111043"/>
          </a:xfrm>
        </p:spPr>
        <p:txBody>
          <a:bodyPr>
            <a:normAutofit fontScale="90000"/>
          </a:bodyPr>
          <a:lstStyle/>
          <a:p>
            <a:r>
              <a:rPr lang="nl-NL" sz="4000" dirty="0"/>
              <a:t>Risico analyse  </a:t>
            </a:r>
            <a:br>
              <a:rPr lang="nl-NL" dirty="0"/>
            </a:br>
            <a:r>
              <a:rPr lang="nl-NL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 = kleine kans/laag risico</a:t>
            </a:r>
            <a:br>
              <a:rPr lang="nl-NL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nl-NL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5 = grote kans/groot risico</a:t>
            </a:r>
            <a:br>
              <a:rPr lang="nl-NL" dirty="0"/>
            </a:br>
            <a:endParaRPr lang="nl-NL" sz="1400" dirty="0"/>
          </a:p>
        </p:txBody>
      </p:sp>
      <p:graphicFrame>
        <p:nvGraphicFramePr>
          <p:cNvPr id="14" name="Tijdelijke aanduiding voor inhoud 13">
            <a:extLst>
              <a:ext uri="{FF2B5EF4-FFF2-40B4-BE49-F238E27FC236}">
                <a16:creationId xmlns:a16="http://schemas.microsoft.com/office/drawing/2014/main" id="{600011E8-FAF6-D42F-8ED7-46D1BDCFB5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0718380"/>
              </p:ext>
            </p:extLst>
          </p:nvPr>
        </p:nvGraphicFramePr>
        <p:xfrm>
          <a:off x="500990" y="1720643"/>
          <a:ext cx="10855267" cy="4949682"/>
        </p:xfrm>
        <a:graphic>
          <a:graphicData uri="http://schemas.openxmlformats.org/drawingml/2006/table">
            <a:tbl>
              <a:tblPr firstRow="1" firstCol="1" bandRow="1"/>
              <a:tblGrid>
                <a:gridCol w="1583707">
                  <a:extLst>
                    <a:ext uri="{9D8B030D-6E8A-4147-A177-3AD203B41FA5}">
                      <a16:colId xmlns:a16="http://schemas.microsoft.com/office/drawing/2014/main" val="3251456544"/>
                    </a:ext>
                  </a:extLst>
                </a:gridCol>
                <a:gridCol w="761873">
                  <a:extLst>
                    <a:ext uri="{9D8B030D-6E8A-4147-A177-3AD203B41FA5}">
                      <a16:colId xmlns:a16="http://schemas.microsoft.com/office/drawing/2014/main" val="1790380332"/>
                    </a:ext>
                  </a:extLst>
                </a:gridCol>
                <a:gridCol w="825360">
                  <a:extLst>
                    <a:ext uri="{9D8B030D-6E8A-4147-A177-3AD203B41FA5}">
                      <a16:colId xmlns:a16="http://schemas.microsoft.com/office/drawing/2014/main" val="2237206817"/>
                    </a:ext>
                  </a:extLst>
                </a:gridCol>
                <a:gridCol w="1731144">
                  <a:extLst>
                    <a:ext uri="{9D8B030D-6E8A-4147-A177-3AD203B41FA5}">
                      <a16:colId xmlns:a16="http://schemas.microsoft.com/office/drawing/2014/main" val="841126621"/>
                    </a:ext>
                  </a:extLst>
                </a:gridCol>
                <a:gridCol w="1633793">
                  <a:extLst>
                    <a:ext uri="{9D8B030D-6E8A-4147-A177-3AD203B41FA5}">
                      <a16:colId xmlns:a16="http://schemas.microsoft.com/office/drawing/2014/main" val="3581734858"/>
                    </a:ext>
                  </a:extLst>
                </a:gridCol>
                <a:gridCol w="1523744">
                  <a:extLst>
                    <a:ext uri="{9D8B030D-6E8A-4147-A177-3AD203B41FA5}">
                      <a16:colId xmlns:a16="http://schemas.microsoft.com/office/drawing/2014/main" val="217119461"/>
                    </a:ext>
                  </a:extLst>
                </a:gridCol>
                <a:gridCol w="761873">
                  <a:extLst>
                    <a:ext uri="{9D8B030D-6E8A-4147-A177-3AD203B41FA5}">
                      <a16:colId xmlns:a16="http://schemas.microsoft.com/office/drawing/2014/main" val="1704957896"/>
                    </a:ext>
                  </a:extLst>
                </a:gridCol>
                <a:gridCol w="791500">
                  <a:extLst>
                    <a:ext uri="{9D8B030D-6E8A-4147-A177-3AD203B41FA5}">
                      <a16:colId xmlns:a16="http://schemas.microsoft.com/office/drawing/2014/main" val="2637517760"/>
                    </a:ext>
                  </a:extLst>
                </a:gridCol>
                <a:gridCol w="1242273">
                  <a:extLst>
                    <a:ext uri="{9D8B030D-6E8A-4147-A177-3AD203B41FA5}">
                      <a16:colId xmlns:a16="http://schemas.microsoft.com/office/drawing/2014/main" val="4008234438"/>
                    </a:ext>
                  </a:extLst>
                </a:gridCol>
              </a:tblGrid>
              <a:tr h="42406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Risico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Kans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Impact 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Gevolg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Oplossing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Maatregel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Kans (na)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Impact (na)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Oplossing toegepast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8673721"/>
                  </a:ext>
                </a:extLst>
              </a:tr>
              <a:tr h="82737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windsnelheid sensor gaat kapot en stuurt daardoor geen waardes meer door.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motor gaat niet meer draaien aangezien de windsnelheid altijd op    0 m/s gaat staan.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Accepteren dat er voor een tijd geen motor draaien en de sensor vervangen.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Nvt.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768597"/>
                  </a:ext>
                </a:extLst>
              </a:tr>
              <a:tr h="116061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windrichting sensor gaat kapot en stuurt daardoor geen waardes meer door.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891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motor gaat altijd draaien op de gegevens van de windsnelheid, ook op momenten dat die niet zou moeten draaien, en daardoor energie verspillen.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Accepteren dat de motor voor een tijd niet optimaal draait en de sensor vervangen.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Nvt.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7164314"/>
                  </a:ext>
                </a:extLst>
              </a:tr>
              <a:tr h="116061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behuizing raakt beschadigt door wind of water/regen.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891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sensoren en micro controller in de behuizing gaan kapot door water schade.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Overdragen aan de PO. Wij hebben geen toegang tot goede stevige manieren om de behuizing te maken.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Wij maken en tijdelijke behuizing en wij dragen het ontwerp over aan de PO zodat hij er een stevige versie van kan maken.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Nog niet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032512"/>
                  </a:ext>
                </a:extLst>
              </a:tr>
              <a:tr h="82737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hardware wordt gesloopt door buitenstaanders.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 motor zal niet meer draaien aangezien die niet meer aangestuurd gaat worden.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Overdragen aan de PO. Het weerstation staat op hun vlot waar iedereen op zou kunnen gaan.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56191" marR="5619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980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1020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EB9E2-E46C-C512-0CC9-F659CD910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Sprint 5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F7E8E8D-087A-5476-8897-9EFE15A76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47380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429E17-1B97-C831-7225-46CA6E30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Retrospectieve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2C2D7A-ABAA-CE8B-7D60-1D743C7E7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50% presentatie</a:t>
            </a:r>
          </a:p>
          <a:p>
            <a:r>
              <a:rPr lang="nl-NL" dirty="0"/>
              <a:t>Spullen afwezig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28614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494</Words>
  <Application>Microsoft Office PowerPoint</Application>
  <PresentationFormat>Breedbeeld</PresentationFormat>
  <Paragraphs>90</Paragraphs>
  <Slides>10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5" baseType="lpstr">
      <vt:lpstr>Aptos</vt:lpstr>
      <vt:lpstr>Arial</vt:lpstr>
      <vt:lpstr>Trebuchet MS</vt:lpstr>
      <vt:lpstr>Wingdings 3</vt:lpstr>
      <vt:lpstr>Facet</vt:lpstr>
      <vt:lpstr>Plasticvanger</vt:lpstr>
      <vt:lpstr>Inleiding</vt:lpstr>
      <vt:lpstr>Vorige sprint</vt:lpstr>
      <vt:lpstr>Raspberry pi 4</vt:lpstr>
      <vt:lpstr>Windsnelheid sensor</vt:lpstr>
      <vt:lpstr>Windrichting sensor</vt:lpstr>
      <vt:lpstr>Onderzoek behuizing</vt:lpstr>
      <vt:lpstr>Risico analyse   1 = kleine kans/laag risico 5 = grote kans/groot risico </vt:lpstr>
      <vt:lpstr>Sprint 5</vt:lpstr>
      <vt:lpstr>Retrospectieve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2</cp:revision>
  <dcterms:created xsi:type="dcterms:W3CDTF">2025-11-18T12:41:20Z</dcterms:created>
  <dcterms:modified xsi:type="dcterms:W3CDTF">2025-11-21T12:56:34Z</dcterms:modified>
</cp:coreProperties>
</file>