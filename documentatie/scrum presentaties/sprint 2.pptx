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7" r:id="rId1"/>
  </p:sldMasterIdLst>
  <p:sldIdLst>
    <p:sldId id="256" r:id="rId2"/>
    <p:sldId id="257" r:id="rId3"/>
    <p:sldId id="259" r:id="rId4"/>
    <p:sldId id="260" r:id="rId5"/>
    <p:sldId id="266" r:id="rId6"/>
    <p:sldId id="261" r:id="rId7"/>
    <p:sldId id="262" r:id="rId8"/>
    <p:sldId id="265" r:id="rId9"/>
    <p:sldId id="264" r:id="rId10"/>
    <p:sldId id="263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jl, gemiddeld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1" d="100"/>
          <a:sy n="91" d="100"/>
        </p:scale>
        <p:origin x="764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sp>
          <p:nvSpPr>
            <p:cNvPr id="15" name="Freeform 14"/>
            <p:cNvSpPr/>
            <p:nvPr/>
          </p:nvSpPr>
          <p:spPr>
            <a:xfrm>
              <a:off x="0" y="-7862"/>
              <a:ext cx="863600" cy="5698067"/>
            </a:xfrm>
            <a:custGeom>
              <a:avLst/>
              <a:gdLst/>
              <a:ahLst/>
              <a:cxnLst/>
              <a:rect l="l" t="t" r="r" b="b"/>
              <a:pathLst>
                <a:path w="863600" h="5698067">
                  <a:moveTo>
                    <a:pt x="0" y="8467"/>
                  </a:moveTo>
                  <a:lnTo>
                    <a:pt x="863600" y="0"/>
                  </a:lnTo>
                  <a:lnTo>
                    <a:pt x="863600" y="16934"/>
                  </a:lnTo>
                  <a:lnTo>
                    <a:pt x="0" y="5698067"/>
                  </a:lnTo>
                  <a:lnTo>
                    <a:pt x="0" y="8467"/>
                  </a:lnTo>
                  <a:close/>
                </a:path>
              </a:pathLst>
            </a:cu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cxnSp>
          <p:nvCxnSpPr>
            <p:cNvPr id="19" name="Straight Connector 18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Isosceles Triangle 22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nl-NL"/>
              <a:t>Klikken om de ondertitelstijl van het model te bewerken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DE3BD4-3BC6-486B-84FA-4AF530612E72}" type="datetimeFigureOut">
              <a:rPr lang="nl-NL" smtClean="0"/>
              <a:t>7-10-2025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DAC050-0D21-4421-9D3C-BFB696298AF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0281833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DE3BD4-3BC6-486B-84FA-4AF530612E72}" type="datetimeFigureOut">
              <a:rPr lang="nl-NL" smtClean="0"/>
              <a:t>7-10-2025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DAC050-0D21-4421-9D3C-BFB696298AF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5414165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ek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DE3BD4-3BC6-486B-84FA-4AF530612E72}" type="datetimeFigureOut">
              <a:rPr lang="nl-NL" smtClean="0"/>
              <a:t>7-10-2025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DAC050-0D21-4421-9D3C-BFB696298AF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5613541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DE3BD4-3BC6-486B-84FA-4AF530612E72}" type="datetimeFigureOut">
              <a:rPr lang="nl-NL" smtClean="0"/>
              <a:t>7-10-2025</a:t>
            </a:fld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DAC050-0D21-4421-9D3C-BFB696298AF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9877449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elijk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DE3BD4-3BC6-486B-84FA-4AF530612E72}" type="datetimeFigureOut">
              <a:rPr lang="nl-NL" smtClean="0"/>
              <a:t>7-10-2025</a:t>
            </a:fld>
            <a:endParaRPr lang="nl-N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DAC050-0D21-4421-9D3C-BFB696298AF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005567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DE3BD4-3BC6-486B-84FA-4AF530612E72}" type="datetimeFigureOut">
              <a:rPr lang="nl-NL" smtClean="0"/>
              <a:t>7-10-2025</a:t>
            </a:fld>
            <a:endParaRPr lang="nl-NL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DAC050-0D21-4421-9D3C-BFB696298AF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4701078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DE3BD4-3BC6-486B-84FA-4AF530612E72}" type="datetimeFigureOut">
              <a:rPr lang="nl-NL" smtClean="0"/>
              <a:t>7-10-2025</a:t>
            </a:fld>
            <a:endParaRPr lang="nl-NL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DAC050-0D21-4421-9D3C-BFB696298AF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3002025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oud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DE3BD4-3BC6-486B-84FA-4AF530612E72}" type="datetimeFigureOut">
              <a:rPr lang="nl-NL" smtClean="0"/>
              <a:t>7-10-2025</a:t>
            </a:fld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DAC050-0D21-4421-9D3C-BFB696298AF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7392277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Afbeelding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nl-NL"/>
              <a:t>Klik op het pictogram als u een afbeelding wilt toevoegen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DAC050-0D21-4421-9D3C-BFB696298AF5}" type="slidenum">
              <a:rPr lang="nl-NL" smtClean="0"/>
              <a:t>‹#›</a:t>
            </a:fld>
            <a:endParaRPr lang="nl-NL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DE3BD4-3BC6-486B-84FA-4AF530612E72}" type="datetimeFigureOut">
              <a:rPr lang="nl-NL" smtClean="0"/>
              <a:t>7-10-2025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7744239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 en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DE3BD4-3BC6-486B-84FA-4AF530612E72}" type="datetimeFigureOut">
              <a:rPr lang="nl-NL" smtClean="0"/>
              <a:t>7-10-2025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DAC050-0D21-4421-9D3C-BFB696298AF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5897055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eraat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DE3BD4-3BC6-486B-84FA-4AF530612E72}" type="datetimeFigureOut">
              <a:rPr lang="nl-NL" smtClean="0"/>
              <a:t>7-10-2025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DAC050-0D21-4421-9D3C-BFB696298AF5}" type="slidenum">
              <a:rPr lang="nl-NL" smtClean="0"/>
              <a:t>‹#›</a:t>
            </a:fld>
            <a:endParaRPr lang="nl-NL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21701006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amkaartj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DE3BD4-3BC6-486B-84FA-4AF530612E72}" type="datetimeFigureOut">
              <a:rPr lang="nl-NL" smtClean="0"/>
              <a:t>7-10-2025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DAC050-0D21-4421-9D3C-BFB696298AF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5463048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fferte naamkaartj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DE3BD4-3BC6-486B-84FA-4AF530612E72}" type="datetimeFigureOut">
              <a:rPr lang="nl-NL" smtClean="0"/>
              <a:t>7-10-2025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DAC050-0D21-4421-9D3C-BFB696298AF5}" type="slidenum">
              <a:rPr lang="nl-NL" smtClean="0"/>
              <a:t>‹#›</a:t>
            </a:fld>
            <a:endParaRPr lang="nl-NL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03925309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aar of onwa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DE3BD4-3BC6-486B-84FA-4AF530612E72}" type="datetimeFigureOut">
              <a:rPr lang="nl-NL" smtClean="0"/>
              <a:t>7-10-2025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DAC050-0D21-4421-9D3C-BFB696298AF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6746296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en verticale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DE3BD4-3BC6-486B-84FA-4AF530612E72}" type="datetimeFigureOut">
              <a:rPr lang="nl-NL" smtClean="0"/>
              <a:t>7-10-2025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DAC050-0D21-4421-9D3C-BFB696298AF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43793407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e titel en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DE3BD4-3BC6-486B-84FA-4AF530612E72}" type="datetimeFigureOut">
              <a:rPr lang="nl-NL" smtClean="0"/>
              <a:t>7-10-2025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DAC050-0D21-4421-9D3C-BFB696298AF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29118124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EDE3BD4-3BC6-486B-84FA-4AF530612E72}" type="datetimeFigureOut">
              <a:rPr lang="nl-NL" smtClean="0"/>
              <a:t>7-10-2025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60DAC050-0D21-4421-9D3C-BFB696298AF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5071105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9" r:id="rId2"/>
    <p:sldLayoutId id="2147483680" r:id="rId3"/>
    <p:sldLayoutId id="2147483681" r:id="rId4"/>
    <p:sldLayoutId id="2147483682" r:id="rId5"/>
    <p:sldLayoutId id="2147483683" r:id="rId6"/>
    <p:sldLayoutId id="2147483684" r:id="rId7"/>
    <p:sldLayoutId id="2147483685" r:id="rId8"/>
    <p:sldLayoutId id="2147483686" r:id="rId9"/>
    <p:sldLayoutId id="2147483687" r:id="rId10"/>
    <p:sldLayoutId id="2147483688" r:id="rId11"/>
    <p:sldLayoutId id="2147483689" r:id="rId12"/>
    <p:sldLayoutId id="2147483690" r:id="rId13"/>
    <p:sldLayoutId id="2147483691" r:id="rId14"/>
    <p:sldLayoutId id="2147483692" r:id="rId15"/>
    <p:sldLayoutId id="2147483693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5A0BD3E-0DCD-77DF-F110-34B43172365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Plastic Vanger</a:t>
            </a:r>
            <a:endParaRPr lang="nl-NL" dirty="0"/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47F00CFF-9B67-D9D8-BB9D-03EB301D7C3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62500" lnSpcReduction="20000"/>
          </a:bodyPr>
          <a:lstStyle/>
          <a:p>
            <a:pPr algn="l"/>
            <a:r>
              <a:rPr lang="en-US" dirty="0"/>
              <a:t>Merel van der Leeden</a:t>
            </a:r>
          </a:p>
          <a:p>
            <a:pPr algn="l"/>
            <a:r>
              <a:rPr lang="en-US" dirty="0"/>
              <a:t>Aron </a:t>
            </a:r>
            <a:r>
              <a:rPr lang="en-US" dirty="0" err="1"/>
              <a:t>Vleij</a:t>
            </a:r>
            <a:endParaRPr lang="en-US" dirty="0"/>
          </a:p>
          <a:p>
            <a:pPr algn="l"/>
            <a:r>
              <a:rPr lang="en-US" dirty="0"/>
              <a:t>Pavlo </a:t>
            </a:r>
            <a:r>
              <a:rPr lang="en-US" dirty="0" err="1"/>
              <a:t>Petraschkevych</a:t>
            </a:r>
            <a:endParaRPr lang="en-US" dirty="0"/>
          </a:p>
          <a:p>
            <a:pPr algn="l"/>
            <a:r>
              <a:rPr lang="en-US" dirty="0"/>
              <a:t>Jullian Lima Spencer</a:t>
            </a:r>
            <a:endParaRPr lang="nl-NL" dirty="0"/>
          </a:p>
          <a:p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77243923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8BCD10A-866D-AA76-808C-73012CD731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Inleiding</a:t>
            </a:r>
            <a:endParaRPr lang="nl-NL" dirty="0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6A45479C-6BB7-1888-3F1B-A1FA3CAC84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Vorige</a:t>
            </a:r>
            <a:r>
              <a:rPr lang="en-US" dirty="0"/>
              <a:t> sprint</a:t>
            </a:r>
          </a:p>
          <a:p>
            <a:r>
              <a:rPr lang="en-US" dirty="0" err="1"/>
              <a:t>Locatie</a:t>
            </a:r>
            <a:r>
              <a:rPr lang="en-US" dirty="0"/>
              <a:t> </a:t>
            </a:r>
          </a:p>
          <a:p>
            <a:r>
              <a:rPr lang="en-US" dirty="0" err="1"/>
              <a:t>Architectuur</a:t>
            </a:r>
            <a:r>
              <a:rPr lang="en-US" dirty="0"/>
              <a:t> </a:t>
            </a:r>
            <a:r>
              <a:rPr lang="en-US" dirty="0" err="1"/>
              <a:t>ontwerp</a:t>
            </a:r>
            <a:endParaRPr lang="en-US" dirty="0"/>
          </a:p>
          <a:p>
            <a:r>
              <a:rPr lang="en-US" dirty="0" err="1"/>
              <a:t>Zelfvoorziening</a:t>
            </a:r>
            <a:endParaRPr lang="en-US" dirty="0"/>
          </a:p>
          <a:p>
            <a:r>
              <a:rPr lang="en-US" dirty="0" err="1"/>
              <a:t>Mogelijkheid</a:t>
            </a:r>
            <a:r>
              <a:rPr lang="en-US" dirty="0"/>
              <a:t> </a:t>
            </a:r>
            <a:r>
              <a:rPr lang="en-US" dirty="0" err="1"/>
              <a:t>voor</a:t>
            </a:r>
            <a:r>
              <a:rPr lang="en-US" dirty="0"/>
              <a:t> </a:t>
            </a:r>
            <a:r>
              <a:rPr lang="en-US" dirty="0" err="1"/>
              <a:t>afstand</a:t>
            </a:r>
            <a:r>
              <a:rPr lang="en-US" dirty="0"/>
              <a:t> </a:t>
            </a:r>
            <a:r>
              <a:rPr lang="en-US" dirty="0" err="1"/>
              <a:t>bestuurbaar</a:t>
            </a:r>
            <a:endParaRPr lang="en-US" dirty="0"/>
          </a:p>
          <a:p>
            <a:r>
              <a:rPr lang="en-US" dirty="0"/>
              <a:t>Sprint 3</a:t>
            </a:r>
          </a:p>
          <a:p>
            <a:r>
              <a:rPr lang="en-US" dirty="0"/>
              <a:t>Retrospective </a:t>
            </a:r>
          </a:p>
          <a:p>
            <a:endParaRPr lang="en-US" dirty="0"/>
          </a:p>
          <a:p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8065673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C81B8C2-595A-32C4-05CD-8B319B8199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Vorige</a:t>
            </a:r>
            <a:r>
              <a:rPr lang="en-US" dirty="0"/>
              <a:t> sprint </a:t>
            </a:r>
            <a:endParaRPr lang="nl-NL" dirty="0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EFE6AC46-470A-29B4-9698-0358DAB091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Samenvatting</a:t>
            </a:r>
            <a:endParaRPr lang="nl-NL" dirty="0"/>
          </a:p>
        </p:txBody>
      </p:sp>
      <p:graphicFrame>
        <p:nvGraphicFramePr>
          <p:cNvPr id="4" name="Tabel 3">
            <a:extLst>
              <a:ext uri="{FF2B5EF4-FFF2-40B4-BE49-F238E27FC236}">
                <a16:creationId xmlns:a16="http://schemas.microsoft.com/office/drawing/2014/main" id="{121F01DD-ED26-4FD5-E0BB-80C728C486A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1033386"/>
              </p:ext>
            </p:extLst>
          </p:nvPr>
        </p:nvGraphicFramePr>
        <p:xfrm>
          <a:off x="3575664" y="609600"/>
          <a:ext cx="8128000" cy="5217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3515503118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1416530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User story</a:t>
                      </a:r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taken</a:t>
                      </a:r>
                      <a:endParaRPr lang="nl-N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8676959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1" dirty="0"/>
                        <a:t>10. </a:t>
                      </a:r>
                      <a:r>
                        <a:rPr lang="nl-NL" sz="1600" b="1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Ik wil dat de microcontroller de motor kan aansturen op basis van de data.</a:t>
                      </a:r>
                    </a:p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600" b="1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12. </a:t>
                      </a:r>
                      <a:r>
                        <a:rPr lang="nl-NL" sz="1800" b="1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Ik wil dat de motor altijd minimaal draait zodat we geen energie verspillen en zo veel mogelijk plastic in de plastic vanger terecht komt.</a:t>
                      </a:r>
                      <a:endParaRPr lang="nl-NL" sz="1600" b="1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800" b="1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10.1/12.1 Bestudeer de verkregen motorprestatiegegevens</a:t>
                      </a:r>
                    </a:p>
                    <a:p>
                      <a:endParaRPr lang="nl-N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035959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dirty="0"/>
                        <a:t>15. </a:t>
                      </a:r>
                      <a:r>
                        <a:rPr lang="nl-NL" sz="1800" b="1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Ik wil de het weerstation altijd werkt ook al heeft hij geen stroomtoevoer.</a:t>
                      </a:r>
                    </a:p>
                    <a:p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800" b="1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15.1 Onderzoek wat is de opties van zelfvoorziening.</a:t>
                      </a:r>
                    </a:p>
                    <a:p>
                      <a:endParaRPr lang="nl-N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823701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dirty="0"/>
                        <a:t>14. </a:t>
                      </a:r>
                      <a:r>
                        <a:rPr lang="nl-NL" sz="1800" b="1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Ik wil in noodgevallen de motor van afstand kunnen aansturen of uitzetten.</a:t>
                      </a:r>
                      <a:endParaRPr lang="nl-NL" sz="1800" b="1" dirty="0"/>
                    </a:p>
                    <a:p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800" b="1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14.1 Onderzoek wat is de beste optie app of website.</a:t>
                      </a:r>
                    </a:p>
                    <a:p>
                      <a:endParaRPr lang="nl-N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5291728"/>
                  </a:ext>
                </a:extLst>
              </a:tr>
            </a:tbl>
          </a:graphicData>
        </a:graphic>
      </p:graphicFrame>
      <p:graphicFrame>
        <p:nvGraphicFramePr>
          <p:cNvPr id="5" name="Tabel 4">
            <a:extLst>
              <a:ext uri="{FF2B5EF4-FFF2-40B4-BE49-F238E27FC236}">
                <a16:creationId xmlns:a16="http://schemas.microsoft.com/office/drawing/2014/main" id="{64FBAADC-190E-95BA-E065-CF339A971F6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80462328"/>
              </p:ext>
            </p:extLst>
          </p:nvPr>
        </p:nvGraphicFramePr>
        <p:xfrm>
          <a:off x="3575664" y="5826760"/>
          <a:ext cx="8128000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313850621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37921258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Sensoren</a:t>
                      </a:r>
                      <a:r>
                        <a:rPr lang="en-US" dirty="0"/>
                        <a:t> </a:t>
                      </a:r>
                      <a:r>
                        <a:rPr lang="en-US" dirty="0" err="1"/>
                        <a:t>onderzoeksverslag</a:t>
                      </a:r>
                      <a:r>
                        <a:rPr lang="en-US" dirty="0"/>
                        <a:t> </a:t>
                      </a:r>
                      <a:r>
                        <a:rPr lang="en-US" dirty="0" err="1"/>
                        <a:t>versie</a:t>
                      </a:r>
                      <a:r>
                        <a:rPr lang="en-US" dirty="0"/>
                        <a:t> 2</a:t>
                      </a:r>
                      <a:endParaRPr lang="nl-N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2402819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002419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F2CC5F2-3ED0-DC6A-F115-98F9E6B0BF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Locatie </a:t>
            </a:r>
            <a:endParaRPr lang="nl-NL" dirty="0"/>
          </a:p>
        </p:txBody>
      </p:sp>
      <p:pic>
        <p:nvPicPr>
          <p:cNvPr id="5" name="Tijdelijke aanduiding voor inhoud 4" descr="Afbeelding met buitenshuis, gebouw, stad, straat&#10;&#10;Door AI gegenereerde inhoud is mogelijk onjuist.">
            <a:extLst>
              <a:ext uri="{FF2B5EF4-FFF2-40B4-BE49-F238E27FC236}">
                <a16:creationId xmlns:a16="http://schemas.microsoft.com/office/drawing/2014/main" id="{EE223289-C081-D500-F3E8-D4D8980BE56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5911" y="1718650"/>
            <a:ext cx="6962423" cy="3925066"/>
          </a:xfrm>
        </p:spPr>
      </p:pic>
      <p:pic>
        <p:nvPicPr>
          <p:cNvPr id="6" name="Picture 4">
            <a:extLst>
              <a:ext uri="{FF2B5EF4-FFF2-40B4-BE49-F238E27FC236}">
                <a16:creationId xmlns:a16="http://schemas.microsoft.com/office/drawing/2014/main" id="{827073CD-75B9-53F9-0D11-08182D2D3F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6512" y="1675951"/>
            <a:ext cx="5245488" cy="40921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82682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40E4897-9E19-1AED-07AB-3F4C43267B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Architectuur</a:t>
            </a:r>
            <a:r>
              <a:rPr lang="en-US" dirty="0"/>
              <a:t> </a:t>
            </a:r>
            <a:r>
              <a:rPr lang="en-US" dirty="0" err="1"/>
              <a:t>ontwerp</a:t>
            </a:r>
            <a:endParaRPr lang="nl-NL" dirty="0"/>
          </a:p>
        </p:txBody>
      </p:sp>
      <p:pic>
        <p:nvPicPr>
          <p:cNvPr id="5" name="Tijdelijke aanduiding voor inhoud 4">
            <a:extLst>
              <a:ext uri="{FF2B5EF4-FFF2-40B4-BE49-F238E27FC236}">
                <a16:creationId xmlns:a16="http://schemas.microsoft.com/office/drawing/2014/main" id="{B7657CA4-32C1-EA05-50EC-9C18414936A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77690" y="2874858"/>
            <a:ext cx="8596312" cy="1741697"/>
          </a:xfrm>
        </p:spPr>
      </p:pic>
    </p:spTree>
    <p:extLst>
      <p:ext uri="{BB962C8B-B14F-4D97-AF65-F5344CB8AC3E}">
        <p14:creationId xmlns:p14="http://schemas.microsoft.com/office/powerpoint/2010/main" val="420540396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4A846E5-8F54-26D1-2B42-3136CF33FB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Zelfvoorziening</a:t>
            </a:r>
            <a:r>
              <a:rPr lang="en-US" dirty="0"/>
              <a:t> </a:t>
            </a:r>
            <a:endParaRPr lang="nl-NL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0871DE22-0FD4-4978-B5FB-8CA6BCBC3E9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562091959"/>
              </p:ext>
            </p:extLst>
          </p:nvPr>
        </p:nvGraphicFramePr>
        <p:xfrm>
          <a:off x="3245771" y="1717119"/>
          <a:ext cx="7035996" cy="4362594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149345">
                  <a:extLst>
                    <a:ext uri="{9D8B030D-6E8A-4147-A177-3AD203B41FA5}">
                      <a16:colId xmlns:a16="http://schemas.microsoft.com/office/drawing/2014/main" val="153205334"/>
                    </a:ext>
                  </a:extLst>
                </a:gridCol>
                <a:gridCol w="1149345">
                  <a:extLst>
                    <a:ext uri="{9D8B030D-6E8A-4147-A177-3AD203B41FA5}">
                      <a16:colId xmlns:a16="http://schemas.microsoft.com/office/drawing/2014/main" val="875574213"/>
                    </a:ext>
                  </a:extLst>
                </a:gridCol>
                <a:gridCol w="1149345">
                  <a:extLst>
                    <a:ext uri="{9D8B030D-6E8A-4147-A177-3AD203B41FA5}">
                      <a16:colId xmlns:a16="http://schemas.microsoft.com/office/drawing/2014/main" val="1625982825"/>
                    </a:ext>
                  </a:extLst>
                </a:gridCol>
                <a:gridCol w="1289271">
                  <a:extLst>
                    <a:ext uri="{9D8B030D-6E8A-4147-A177-3AD203B41FA5}">
                      <a16:colId xmlns:a16="http://schemas.microsoft.com/office/drawing/2014/main" val="3989230865"/>
                    </a:ext>
                  </a:extLst>
                </a:gridCol>
                <a:gridCol w="1149345">
                  <a:extLst>
                    <a:ext uri="{9D8B030D-6E8A-4147-A177-3AD203B41FA5}">
                      <a16:colId xmlns:a16="http://schemas.microsoft.com/office/drawing/2014/main" val="2098897870"/>
                    </a:ext>
                  </a:extLst>
                </a:gridCol>
                <a:gridCol w="1149345">
                  <a:extLst>
                    <a:ext uri="{9D8B030D-6E8A-4147-A177-3AD203B41FA5}">
                      <a16:colId xmlns:a16="http://schemas.microsoft.com/office/drawing/2014/main" val="757756213"/>
                    </a:ext>
                  </a:extLst>
                </a:gridCol>
              </a:tblGrid>
              <a:tr h="523072">
                <a:tc>
                  <a:txBody>
                    <a:bodyPr/>
                    <a:lstStyle/>
                    <a:p>
                      <a:pPr>
                        <a:buNone/>
                        <a:tabLst>
                          <a:tab pos="855980" algn="l"/>
                        </a:tabLst>
                      </a:pPr>
                      <a:r>
                        <a:rPr lang="en-US" sz="1200" kern="100">
                          <a:effectLst/>
                        </a:rPr>
                        <a:t>Model</a:t>
                      </a:r>
                      <a:endParaRPr lang="en-NL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buNone/>
                        <a:tabLst>
                          <a:tab pos="855980" algn="l"/>
                        </a:tabLst>
                      </a:pPr>
                      <a:r>
                        <a:rPr lang="en-US" sz="1200" kern="100">
                          <a:effectLst/>
                        </a:rPr>
                        <a:t>Vermogen</a:t>
                      </a:r>
                      <a:endParaRPr lang="en-NL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buNone/>
                        <a:tabLst>
                          <a:tab pos="855980" algn="l"/>
                        </a:tabLst>
                      </a:pPr>
                      <a:r>
                        <a:rPr lang="en-US" sz="1200" kern="100">
                          <a:effectLst/>
                        </a:rPr>
                        <a:t>Nominale spanning</a:t>
                      </a:r>
                      <a:endParaRPr lang="en-NL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buNone/>
                        <a:tabLst>
                          <a:tab pos="855980" algn="l"/>
                        </a:tabLst>
                      </a:pPr>
                      <a:r>
                        <a:rPr lang="en-US" sz="1200" kern="100">
                          <a:effectLst/>
                        </a:rPr>
                        <a:t>Startwindsnelheid</a:t>
                      </a:r>
                      <a:endParaRPr lang="en-NL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buNone/>
                        <a:tabLst>
                          <a:tab pos="855980" algn="l"/>
                        </a:tabLst>
                      </a:pPr>
                      <a:r>
                        <a:rPr lang="en-US" sz="1200" kern="100">
                          <a:effectLst/>
                        </a:rPr>
                        <a:t>Rotor</a:t>
                      </a:r>
                      <a:endParaRPr lang="en-NL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buNone/>
                        <a:tabLst>
                          <a:tab pos="855980" algn="l"/>
                        </a:tabLst>
                      </a:pPr>
                      <a:r>
                        <a:rPr lang="en-US" sz="1200" kern="100">
                          <a:effectLst/>
                        </a:rPr>
                        <a:t>Kosten</a:t>
                      </a:r>
                      <a:endParaRPr lang="en-NL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525291532"/>
                  </a:ext>
                </a:extLst>
              </a:tr>
              <a:tr h="2032688">
                <a:tc>
                  <a:txBody>
                    <a:bodyPr/>
                    <a:lstStyle/>
                    <a:p>
                      <a:pPr>
                        <a:buNone/>
                        <a:tabLst>
                          <a:tab pos="855980" algn="l"/>
                        </a:tabLst>
                      </a:pPr>
                      <a:r>
                        <a:rPr lang="en-NL" sz="1200" kern="100">
                          <a:effectLst/>
                        </a:rPr>
                        <a:t>­­Demountable Wind Turbine ElvWiS ADVENTURE 25SE Economy with Mount (50 W)</a:t>
                      </a:r>
                    </a:p>
                    <a:p>
                      <a:pPr>
                        <a:buNone/>
                        <a:tabLst>
                          <a:tab pos="855980" algn="l"/>
                        </a:tabLst>
                      </a:pPr>
                      <a:r>
                        <a:rPr lang="uk-UA" sz="1200" kern="100">
                          <a:effectLst/>
                        </a:rPr>
                        <a:t> </a:t>
                      </a:r>
                      <a:endParaRPr lang="en-NL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buNone/>
                        <a:tabLst>
                          <a:tab pos="855980" algn="l"/>
                        </a:tabLst>
                      </a:pPr>
                      <a:r>
                        <a:rPr lang="en-US" sz="1200" kern="100">
                          <a:effectLst/>
                        </a:rPr>
                        <a:t>50W</a:t>
                      </a:r>
                      <a:endParaRPr lang="en-NL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buNone/>
                        <a:tabLst>
                          <a:tab pos="855980" algn="l"/>
                        </a:tabLst>
                      </a:pPr>
                      <a:r>
                        <a:rPr lang="en-US" sz="1200" kern="100">
                          <a:effectLst/>
                        </a:rPr>
                        <a:t>12-24V</a:t>
                      </a:r>
                      <a:endParaRPr lang="en-NL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buNone/>
                        <a:tabLst>
                          <a:tab pos="855980" algn="l"/>
                        </a:tabLst>
                      </a:pPr>
                      <a:r>
                        <a:rPr lang="en-US" sz="1200" kern="100">
                          <a:effectLst/>
                        </a:rPr>
                        <a:t>0.5 m/s</a:t>
                      </a:r>
                      <a:endParaRPr lang="en-NL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buNone/>
                        <a:tabLst>
                          <a:tab pos="855980" algn="l"/>
                        </a:tabLst>
                      </a:pPr>
                      <a:r>
                        <a:rPr lang="en-US" sz="1200" kern="100">
                          <a:effectLst/>
                        </a:rPr>
                        <a:t>30-40cm</a:t>
                      </a:r>
                      <a:endParaRPr lang="en-NL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buNone/>
                        <a:tabLst>
                          <a:tab pos="855980" algn="l"/>
                        </a:tabLst>
                      </a:pPr>
                      <a:r>
                        <a:rPr lang="en-US" sz="1200" kern="100">
                          <a:effectLst/>
                        </a:rPr>
                        <a:t>400€</a:t>
                      </a:r>
                      <a:endParaRPr lang="en-NL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787716547"/>
                  </a:ext>
                </a:extLst>
              </a:tr>
              <a:tr h="1806834">
                <a:tc>
                  <a:txBody>
                    <a:bodyPr/>
                    <a:lstStyle/>
                    <a:p>
                      <a:pPr>
                        <a:buNone/>
                        <a:tabLst>
                          <a:tab pos="855980" algn="l"/>
                        </a:tabLst>
                      </a:pPr>
                      <a:r>
                        <a:rPr lang="nl-NL" sz="1200" kern="100">
                          <a:effectLst/>
                        </a:rPr>
                        <a:t>High-End Micro Wind Generator Kit Portable Wind Turbine Generator ot25</a:t>
                      </a:r>
                      <a:endParaRPr lang="en-NL" sz="1200" kern="100">
                        <a:effectLst/>
                      </a:endParaRPr>
                    </a:p>
                    <a:p>
                      <a:pPr>
                        <a:buNone/>
                        <a:tabLst>
                          <a:tab pos="855980" algn="l"/>
                        </a:tabLst>
                      </a:pPr>
                      <a:r>
                        <a:rPr lang="uk-UA" sz="1200" kern="100">
                          <a:effectLst/>
                        </a:rPr>
                        <a:t> </a:t>
                      </a:r>
                      <a:endParaRPr lang="en-NL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buNone/>
                        <a:tabLst>
                          <a:tab pos="855980" algn="l"/>
                        </a:tabLst>
                      </a:pPr>
                      <a:r>
                        <a:rPr lang="en-US" sz="1200" kern="100">
                          <a:effectLst/>
                        </a:rPr>
                        <a:t>50W</a:t>
                      </a:r>
                      <a:endParaRPr lang="en-NL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buNone/>
                        <a:tabLst>
                          <a:tab pos="855980" algn="l"/>
                        </a:tabLst>
                      </a:pPr>
                      <a:r>
                        <a:rPr lang="en-US" sz="1200" kern="100">
                          <a:effectLst/>
                        </a:rPr>
                        <a:t>12-24V</a:t>
                      </a:r>
                      <a:endParaRPr lang="en-NL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buNone/>
                        <a:tabLst>
                          <a:tab pos="855980" algn="l"/>
                        </a:tabLst>
                      </a:pPr>
                      <a:r>
                        <a:rPr lang="en-US" sz="1200" kern="100">
                          <a:effectLst/>
                        </a:rPr>
                        <a:t>2 m/s</a:t>
                      </a:r>
                      <a:endParaRPr lang="en-NL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buNone/>
                        <a:tabLst>
                          <a:tab pos="855980" algn="l"/>
                        </a:tabLst>
                      </a:pPr>
                      <a:r>
                        <a:rPr lang="en-US" sz="1200" kern="100">
                          <a:effectLst/>
                        </a:rPr>
                        <a:t>35-40cm</a:t>
                      </a:r>
                      <a:endParaRPr lang="en-NL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buNone/>
                        <a:tabLst>
                          <a:tab pos="855980" algn="l"/>
                        </a:tabLst>
                      </a:pPr>
                      <a:r>
                        <a:rPr lang="en-US" sz="1200" kern="100" dirty="0">
                          <a:effectLst/>
                        </a:rPr>
                        <a:t>241€</a:t>
                      </a:r>
                      <a:endParaRPr lang="en-NL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577254416"/>
                  </a:ext>
                </a:extLst>
              </a:tr>
            </a:tbl>
          </a:graphicData>
        </a:graphic>
      </p:graphicFrame>
      <p:pic>
        <p:nvPicPr>
          <p:cNvPr id="5" name="Picture 4">
            <a:extLst>
              <a:ext uri="{FF2B5EF4-FFF2-40B4-BE49-F238E27FC236}">
                <a16:creationId xmlns:a16="http://schemas.microsoft.com/office/drawing/2014/main" id="{EC18A15B-2625-A8BD-8078-502BCA43871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33926" y="2289490"/>
            <a:ext cx="1784810" cy="178481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AED999D-39B1-7865-112D-28B4BAC02C1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33926" y="4236266"/>
            <a:ext cx="1649165" cy="16491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387876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8ED1C4F-D3BD-D9CC-A5BA-4A7BDC0ADB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Mogelijkheid</a:t>
            </a:r>
            <a:r>
              <a:rPr lang="en-US" dirty="0"/>
              <a:t> </a:t>
            </a:r>
            <a:r>
              <a:rPr lang="en-US" dirty="0" err="1"/>
              <a:t>voor</a:t>
            </a:r>
            <a:r>
              <a:rPr lang="en-US" dirty="0"/>
              <a:t> </a:t>
            </a:r>
            <a:r>
              <a:rPr lang="en-US" dirty="0" err="1"/>
              <a:t>afstand</a:t>
            </a:r>
            <a:r>
              <a:rPr lang="en-US" dirty="0"/>
              <a:t> </a:t>
            </a:r>
            <a:r>
              <a:rPr lang="en-US" dirty="0" err="1"/>
              <a:t>bestuurbaar</a:t>
            </a:r>
            <a:endParaRPr lang="nl-NL" dirty="0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8494A348-217D-2A0A-5D7E-EDE2528502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SSH</a:t>
            </a:r>
          </a:p>
          <a:p>
            <a:pPr lvl="1"/>
            <a:r>
              <a:rPr lang="en-US" dirty="0"/>
              <a:t>Terminal </a:t>
            </a:r>
          </a:p>
          <a:p>
            <a:pPr lvl="2"/>
            <a:r>
              <a:rPr lang="en-US" dirty="0"/>
              <a:t>Command prompts </a:t>
            </a:r>
          </a:p>
          <a:p>
            <a:r>
              <a:rPr lang="en-US" dirty="0"/>
              <a:t>VNC</a:t>
            </a:r>
          </a:p>
          <a:p>
            <a:pPr lvl="1"/>
            <a:r>
              <a:rPr lang="en-US" dirty="0"/>
              <a:t>Terminal </a:t>
            </a:r>
          </a:p>
          <a:p>
            <a:pPr lvl="2"/>
            <a:r>
              <a:rPr lang="en-US" dirty="0"/>
              <a:t>Command prompts</a:t>
            </a:r>
          </a:p>
          <a:p>
            <a:pPr lvl="1"/>
            <a:r>
              <a:rPr lang="en-US" dirty="0"/>
              <a:t>GUI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12955260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186B93D-22A1-F817-D2B7-97807C0B08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Sensoren</a:t>
            </a:r>
            <a:r>
              <a:rPr lang="en-US" dirty="0"/>
              <a:t> </a:t>
            </a:r>
            <a:r>
              <a:rPr lang="en-US" dirty="0" err="1"/>
              <a:t>onderzoeksverslag</a:t>
            </a:r>
            <a:r>
              <a:rPr lang="en-US" dirty="0"/>
              <a:t> </a:t>
            </a:r>
            <a:r>
              <a:rPr lang="en-US" dirty="0" err="1"/>
              <a:t>versie</a:t>
            </a:r>
            <a:r>
              <a:rPr lang="en-US" dirty="0"/>
              <a:t> 2</a:t>
            </a:r>
            <a:endParaRPr lang="nl-NL" dirty="0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8E38A196-9B47-F3A1-5D13-8C711A15F6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72719953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EF3E789-4958-FB30-6DE8-B3A8272460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Sprint 3</a:t>
            </a:r>
            <a:endParaRPr lang="nl-NL" dirty="0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6094B5A9-65E1-FF2F-37F2-9CF09C9710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probleem</a:t>
            </a:r>
            <a:r>
              <a:rPr lang="en-US" dirty="0"/>
              <a:t> </a:t>
            </a:r>
            <a:r>
              <a:rPr lang="en-US" dirty="0" err="1"/>
              <a:t>opstelling</a:t>
            </a:r>
            <a:endParaRPr lang="en-US" dirty="0"/>
          </a:p>
          <a:p>
            <a:r>
              <a:rPr lang="en-US" dirty="0"/>
              <a:t>Test plan</a:t>
            </a:r>
          </a:p>
          <a:p>
            <a:r>
              <a:rPr lang="en-US" dirty="0" err="1"/>
              <a:t>Literatuur</a:t>
            </a:r>
            <a:r>
              <a:rPr lang="en-US" dirty="0"/>
              <a:t> </a:t>
            </a:r>
            <a:r>
              <a:rPr lang="en-US" dirty="0" err="1"/>
              <a:t>onderzoek</a:t>
            </a:r>
            <a:r>
              <a:rPr lang="en-US" dirty="0"/>
              <a:t> workshop </a:t>
            </a:r>
            <a:r>
              <a:rPr lang="en-US" dirty="0" err="1"/>
              <a:t>voorbereiden</a:t>
            </a:r>
            <a:endParaRPr lang="en-US" dirty="0"/>
          </a:p>
          <a:p>
            <a:r>
              <a:rPr lang="en-US" dirty="0"/>
              <a:t>User story: </a:t>
            </a:r>
            <a:r>
              <a:rPr lang="nl-NL" dirty="0">
                <a:solidFill>
                  <a:schemeClr val="dk1"/>
                </a:solidFill>
              </a:rPr>
              <a:t>7.Het weerstation is bestendig tegen water en extreem weer.</a:t>
            </a:r>
            <a:endParaRPr lang="nl-NL" dirty="0"/>
          </a:p>
          <a:p>
            <a:pPr lvl="1"/>
            <a:r>
              <a:rPr lang="nl-NL" dirty="0"/>
              <a:t>Taak: </a:t>
            </a:r>
            <a:r>
              <a:rPr lang="nl-NL" dirty="0">
                <a:solidFill>
                  <a:schemeClr val="dk1"/>
                </a:solidFill>
              </a:rPr>
              <a:t>7.1 Onderzoek waterdichte en stevig in extreem weer behuizingen.</a:t>
            </a:r>
          </a:p>
          <a:p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73958508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2ED3385-1D28-EB81-A35C-6379B543DA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retrospective</a:t>
            </a:r>
            <a:endParaRPr lang="nl-NL" dirty="0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574C2EF4-1F16-2D0E-69AB-020FACB88A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Aron is </a:t>
            </a:r>
            <a:r>
              <a:rPr lang="en-US" dirty="0" err="1"/>
              <a:t>terug</a:t>
            </a:r>
            <a:endParaRPr lang="en-US" dirty="0"/>
          </a:p>
          <a:p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713998957"/>
      </p:ext>
    </p:extLst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5FCBEF"/>
      </a:accent1>
      <a:accent2>
        <a:srgbClr val="2E83C3"/>
      </a:accent2>
      <a:accent3>
        <a:srgbClr val="42D0A2"/>
      </a:accent3>
      <a:accent4>
        <a:srgbClr val="2E946B"/>
      </a:accent4>
      <a:accent5>
        <a:srgbClr val="42B051"/>
      </a:accent5>
      <a:accent6>
        <a:srgbClr val="96D141"/>
      </a:accent6>
      <a:hlink>
        <a:srgbClr val="3FCDE7"/>
      </a:hlink>
      <a:folHlink>
        <a:srgbClr val="A9D3E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0B5AB586-D108-4FC1-8368-649FE654B89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53</TotalTime>
  <Words>250</Words>
  <Application>Microsoft Office PowerPoint</Application>
  <PresentationFormat>Widescreen</PresentationFormat>
  <Paragraphs>65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Aptos</vt:lpstr>
      <vt:lpstr>Arial</vt:lpstr>
      <vt:lpstr>Trebuchet MS</vt:lpstr>
      <vt:lpstr>Wingdings 3</vt:lpstr>
      <vt:lpstr>Facet</vt:lpstr>
      <vt:lpstr>Plastic Vanger</vt:lpstr>
      <vt:lpstr>Inleiding</vt:lpstr>
      <vt:lpstr>Vorige sprint </vt:lpstr>
      <vt:lpstr>Locatie </vt:lpstr>
      <vt:lpstr>Architectuur ontwerp</vt:lpstr>
      <vt:lpstr>Zelfvoorziening </vt:lpstr>
      <vt:lpstr>Mogelijkheid voor afstand bestuurbaar</vt:lpstr>
      <vt:lpstr>Sensoren onderzoeksverslag versie 2</vt:lpstr>
      <vt:lpstr>Sprint 3</vt:lpstr>
      <vt:lpstr>retrospective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Merel van der Leeden (1103194)</dc:creator>
  <cp:lastModifiedBy>Pavlo Petrashkevych</cp:lastModifiedBy>
  <cp:revision>2</cp:revision>
  <dcterms:created xsi:type="dcterms:W3CDTF">2025-10-07T08:06:31Z</dcterms:created>
  <dcterms:modified xsi:type="dcterms:W3CDTF">2025-10-07T09:01:13Z</dcterms:modified>
</cp:coreProperties>
</file>