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sldIdLst>
    <p:sldId id="256" r:id="rId2"/>
    <p:sldId id="257" r:id="rId3"/>
    <p:sldId id="262" r:id="rId4"/>
    <p:sldId id="258" r:id="rId5"/>
    <p:sldId id="259" r:id="rId6"/>
    <p:sldId id="260" r:id="rId7"/>
    <p:sldId id="261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nl-NL"/>
              <a:t>Klikken om de ondertitelstijl van het model te bewerken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18945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383842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204722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883679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537398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56571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74565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57810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nl-NL"/>
              <a:t>Klik op het pictogram als u een afbeelding wilt toevoegen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364477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en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015802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eraat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2959533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amkaartj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009231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fferte naamkaartj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55844864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ar of onwa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902553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664794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675695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FAC342-9467-4EF1-BE59-841E266529DF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C8141D3B-BB8B-40C5-B7C3-DAF6494E94F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193808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CDB32CA-9AAC-368D-315D-BEBBC0C41EC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Plastic </a:t>
            </a:r>
            <a:r>
              <a:rPr lang="en-US" dirty="0" err="1"/>
              <a:t>vanger</a:t>
            </a:r>
            <a:endParaRPr lang="nl-NL" dirty="0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643D459B-7EA7-14E0-5E8C-5F9B9B030D1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62500" lnSpcReduction="20000"/>
          </a:bodyPr>
          <a:lstStyle/>
          <a:p>
            <a:pPr algn="l"/>
            <a:r>
              <a:rPr lang="en-US" dirty="0"/>
              <a:t>Merel van der Leeden</a:t>
            </a:r>
          </a:p>
          <a:p>
            <a:pPr algn="l"/>
            <a:r>
              <a:rPr lang="en-US" dirty="0"/>
              <a:t>Aron </a:t>
            </a:r>
            <a:r>
              <a:rPr lang="en-US" dirty="0" err="1"/>
              <a:t>Vleij</a:t>
            </a:r>
            <a:endParaRPr lang="en-US" dirty="0"/>
          </a:p>
          <a:p>
            <a:pPr algn="l"/>
            <a:r>
              <a:rPr lang="en-US" dirty="0"/>
              <a:t>Pavlo </a:t>
            </a:r>
            <a:r>
              <a:rPr lang="en-US" dirty="0" err="1"/>
              <a:t>Petraschkevych</a:t>
            </a:r>
            <a:endParaRPr lang="en-US" dirty="0"/>
          </a:p>
          <a:p>
            <a:pPr algn="l"/>
            <a:r>
              <a:rPr lang="en-US" dirty="0"/>
              <a:t>Jullian Lima Spencer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1579379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B3BA373-9A32-3203-8572-C340FF0B0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Inleiding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C76293F-A820-B584-6C70-F6C56728A2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Gesprek met de product </a:t>
            </a:r>
            <a:r>
              <a:rPr lang="nl-NL" dirty="0" err="1"/>
              <a:t>owner</a:t>
            </a:r>
            <a:endParaRPr lang="nl-NL" dirty="0"/>
          </a:p>
          <a:p>
            <a:r>
              <a:rPr lang="nl-NL" dirty="0"/>
              <a:t>Onderzoek naar sensoren</a:t>
            </a:r>
          </a:p>
          <a:p>
            <a:r>
              <a:rPr lang="nl-NL" dirty="0"/>
              <a:t>Onderzoek naar micro controller</a:t>
            </a:r>
          </a:p>
          <a:p>
            <a:r>
              <a:rPr lang="nl-NL" dirty="0"/>
              <a:t>Sprint 2</a:t>
            </a:r>
          </a:p>
          <a:p>
            <a:r>
              <a:rPr lang="nl-NL" dirty="0" err="1"/>
              <a:t>retrospective</a:t>
            </a:r>
            <a:endParaRPr lang="nl-NL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25699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Tijdelijke aanduiding voor inhoud 4" descr="Afbeelding met buitenshuis, gebouw, meer, water&#10;&#10;Door AI gegenereerde inhoud is mogelijk onjuist.">
            <a:extLst>
              <a:ext uri="{FF2B5EF4-FFF2-40B4-BE49-F238E27FC236}">
                <a16:creationId xmlns:a16="http://schemas.microsoft.com/office/drawing/2014/main" id="{BB94B75D-87A4-DFA8-DB72-0AA0B49EE8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62"/>
          <a:stretch>
            <a:fillRect/>
          </a:stretch>
        </p:blipFill>
        <p:spPr>
          <a:xfrm>
            <a:off x="4269854" y="-1"/>
            <a:ext cx="7922146" cy="6858001"/>
          </a:xfrm>
          <a:custGeom>
            <a:avLst/>
            <a:gdLst/>
            <a:ahLst/>
            <a:cxnLst/>
            <a:rect l="l" t="t" r="r" b="b"/>
            <a:pathLst>
              <a:path w="7922146" h="6858001">
                <a:moveTo>
                  <a:pt x="379987" y="0"/>
                </a:moveTo>
                <a:lnTo>
                  <a:pt x="5304971" y="0"/>
                </a:lnTo>
                <a:lnTo>
                  <a:pt x="7065281" y="0"/>
                </a:lnTo>
                <a:lnTo>
                  <a:pt x="7397540" y="0"/>
                </a:lnTo>
                <a:lnTo>
                  <a:pt x="7397540" y="1"/>
                </a:lnTo>
                <a:lnTo>
                  <a:pt x="7922146" y="1"/>
                </a:lnTo>
                <a:lnTo>
                  <a:pt x="7922146" y="6858001"/>
                </a:lnTo>
                <a:lnTo>
                  <a:pt x="7065281" y="6858001"/>
                </a:lnTo>
                <a:lnTo>
                  <a:pt x="7065281" y="6858000"/>
                </a:lnTo>
                <a:lnTo>
                  <a:pt x="5932989" y="6858000"/>
                </a:lnTo>
                <a:lnTo>
                  <a:pt x="5932989" y="6858001"/>
                </a:lnTo>
                <a:lnTo>
                  <a:pt x="27809" y="6858001"/>
                </a:lnTo>
                <a:lnTo>
                  <a:pt x="1803228" y="4521201"/>
                </a:lnTo>
                <a:close/>
                <a:moveTo>
                  <a:pt x="0" y="0"/>
                </a:moveTo>
                <a:lnTo>
                  <a:pt x="379987" y="0"/>
                </a:lnTo>
                <a:lnTo>
                  <a:pt x="0" y="407"/>
                </a:lnTo>
                <a:close/>
              </a:path>
            </a:pathLst>
          </a:cu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A33DC8E8-02C7-CA06-DC51-1668982B78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3851123" cy="1320800"/>
          </a:xfrm>
        </p:spPr>
        <p:txBody>
          <a:bodyPr>
            <a:normAutofit/>
          </a:bodyPr>
          <a:lstStyle/>
          <a:p>
            <a:r>
              <a:rPr lang="en-US" dirty="0" err="1"/>
              <a:t>Gesprek</a:t>
            </a:r>
            <a:r>
              <a:rPr lang="en-US" dirty="0"/>
              <a:t> met product owner</a:t>
            </a:r>
            <a:endParaRPr lang="nl-NL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DA4438D-7104-8BA3-6B01-D81D3D9D99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3851122" cy="3880773"/>
          </a:xfrm>
        </p:spPr>
        <p:txBody>
          <a:bodyPr>
            <a:normAutofit/>
          </a:bodyPr>
          <a:lstStyle/>
          <a:p>
            <a:r>
              <a:rPr lang="en-US" dirty="0" err="1"/>
              <a:t>Uitleg</a:t>
            </a:r>
            <a:r>
              <a:rPr lang="en-US" dirty="0"/>
              <a:t> </a:t>
            </a:r>
            <a:r>
              <a:rPr lang="en-US" dirty="0" err="1"/>
              <a:t>gekregen</a:t>
            </a:r>
            <a:r>
              <a:rPr lang="en-US" dirty="0"/>
              <a:t> over hoe het system </a:t>
            </a:r>
            <a:r>
              <a:rPr lang="en-US" dirty="0" err="1"/>
              <a:t>werkt</a:t>
            </a:r>
            <a:endParaRPr lang="en-US" dirty="0"/>
          </a:p>
          <a:p>
            <a:endParaRPr lang="en-US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4FA5DFF-7FE6-4855-84E6-DFA78EE978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AFD8CBA-54A3-4363-991B-B9C631BBFA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23">
            <a:extLst>
              <a:ext uri="{FF2B5EF4-FFF2-40B4-BE49-F238E27FC236}">
                <a16:creationId xmlns:a16="http://schemas.microsoft.com/office/drawing/2014/main" id="{3F088236-D655-4F88-B238-E167623580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sp>
        <p:nvSpPr>
          <p:cNvPr id="20" name="Rectangle 25">
            <a:extLst>
              <a:ext uri="{FF2B5EF4-FFF2-40B4-BE49-F238E27FC236}">
                <a16:creationId xmlns:a16="http://schemas.microsoft.com/office/drawing/2014/main" id="{3DAC0C92-199E-475C-9390-119A9B0272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sp>
        <p:nvSpPr>
          <p:cNvPr id="22" name="Isosceles Triangle 24">
            <a:extLst>
              <a:ext uri="{FF2B5EF4-FFF2-40B4-BE49-F238E27FC236}">
                <a16:creationId xmlns:a16="http://schemas.microsoft.com/office/drawing/2014/main" id="{C4CFB339-0ED8-4FE2-9EF1-6D1375B849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sp>
        <p:nvSpPr>
          <p:cNvPr id="24" name="Rectangle 27">
            <a:extLst>
              <a:ext uri="{FF2B5EF4-FFF2-40B4-BE49-F238E27FC236}">
                <a16:creationId xmlns:a16="http://schemas.microsoft.com/office/drawing/2014/main" id="{31896C80-2069-4431-9C19-83B9137344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sp>
        <p:nvSpPr>
          <p:cNvPr id="26" name="Rectangle 28">
            <a:extLst>
              <a:ext uri="{FF2B5EF4-FFF2-40B4-BE49-F238E27FC236}">
                <a16:creationId xmlns:a16="http://schemas.microsoft.com/office/drawing/2014/main" id="{BF120A21-0841-4823-B0C4-28AEBCEF9B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sp>
        <p:nvSpPr>
          <p:cNvPr id="28" name="Rectangle 29">
            <a:extLst>
              <a:ext uri="{FF2B5EF4-FFF2-40B4-BE49-F238E27FC236}">
                <a16:creationId xmlns:a16="http://schemas.microsoft.com/office/drawing/2014/main" id="{DBB05BAE-BBD3-4289-899F-A6851503C6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9874D11C-36F5-4BBE-A490-019A54E953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917887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CC2D427-EDA4-B89F-F0C0-DAB761ABE8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5222281" cy="1320800"/>
          </a:xfrm>
        </p:spPr>
        <p:txBody>
          <a:bodyPr>
            <a:normAutofit/>
          </a:bodyPr>
          <a:lstStyle/>
          <a:p>
            <a:r>
              <a:rPr lang="en-US" dirty="0" err="1"/>
              <a:t>Onderzoek</a:t>
            </a:r>
            <a:r>
              <a:rPr lang="en-US" dirty="0"/>
              <a:t> </a:t>
            </a:r>
            <a:r>
              <a:rPr lang="en-US" dirty="0" err="1"/>
              <a:t>naar</a:t>
            </a:r>
            <a:r>
              <a:rPr lang="en-US" dirty="0"/>
              <a:t> </a:t>
            </a:r>
            <a:r>
              <a:rPr lang="en-US" dirty="0" err="1"/>
              <a:t>sensoren</a:t>
            </a:r>
            <a:endParaRPr lang="nl-NL" dirty="0"/>
          </a:p>
        </p:txBody>
      </p:sp>
      <p:sp>
        <p:nvSpPr>
          <p:cNvPr id="38" name="Isosceles Triangle 8">
            <a:extLst>
              <a:ext uri="{FF2B5EF4-FFF2-40B4-BE49-F238E27FC236}">
                <a16:creationId xmlns:a16="http://schemas.microsoft.com/office/drawing/2014/main" id="{E7038D70-4165-4B7C-81B1-689029C47D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013201"/>
            <a:ext cx="476655" cy="2844800"/>
          </a:xfrm>
          <a:prstGeom prst="triangle">
            <a:avLst>
              <a:gd name="adj" fmla="val 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NL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E5128FD-6A1D-F470-1760-0C9B7F14C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1001" y="2160589"/>
            <a:ext cx="5211607" cy="3880773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700" err="1"/>
              <a:t>Onderzoeksverslag</a:t>
            </a:r>
            <a:r>
              <a:rPr lang="en-US" sz="1700"/>
              <a:t> is </a:t>
            </a:r>
            <a:r>
              <a:rPr lang="en-US" sz="1700" err="1"/>
              <a:t>geschreven</a:t>
            </a:r>
            <a:endParaRPr lang="en-US" sz="1700"/>
          </a:p>
          <a:p>
            <a:pPr>
              <a:lnSpc>
                <a:spcPct val="90000"/>
              </a:lnSpc>
            </a:pPr>
            <a:r>
              <a:rPr lang="en-US" sz="1700"/>
              <a:t>in </a:t>
            </a:r>
            <a:r>
              <a:rPr lang="en-US" sz="1700" err="1"/>
              <a:t>overleg</a:t>
            </a:r>
            <a:r>
              <a:rPr lang="en-US" sz="1700"/>
              <a:t> met de </a:t>
            </a:r>
            <a:r>
              <a:rPr lang="en-US" sz="1700" err="1"/>
              <a:t>productowner</a:t>
            </a:r>
            <a:endParaRPr lang="en-US" sz="1700"/>
          </a:p>
          <a:p>
            <a:pPr marL="0" indent="0">
              <a:lnSpc>
                <a:spcPct val="90000"/>
              </a:lnSpc>
              <a:buNone/>
            </a:pPr>
            <a:endParaRPr lang="en-US" sz="1700"/>
          </a:p>
          <a:p>
            <a:pPr>
              <a:lnSpc>
                <a:spcPct val="90000"/>
              </a:lnSpc>
            </a:pPr>
            <a:r>
              <a:rPr lang="en-US" sz="1700"/>
              <a:t>User story:</a:t>
            </a:r>
          </a:p>
          <a:p>
            <a:pPr>
              <a:lnSpc>
                <a:spcPct val="90000"/>
              </a:lnSpc>
            </a:pPr>
            <a:r>
              <a:rPr lang="en-US" sz="1700"/>
              <a:t>1.</a:t>
            </a:r>
            <a:r>
              <a:rPr lang="nl-NL" sz="1700"/>
              <a:t> Ik wil dat er een sensor is die de windsnelheid meet zodat ik de data van de windsnelheid kan krijgen.</a:t>
            </a:r>
          </a:p>
          <a:p>
            <a:pPr>
              <a:lnSpc>
                <a:spcPct val="90000"/>
              </a:lnSpc>
            </a:pPr>
            <a:r>
              <a:rPr lang="nl-NL" sz="1700"/>
              <a:t>Taken: </a:t>
            </a:r>
          </a:p>
          <a:p>
            <a:pPr>
              <a:lnSpc>
                <a:spcPct val="90000"/>
              </a:lnSpc>
            </a:pPr>
            <a:r>
              <a:rPr lang="nl-NL" sz="1700"/>
              <a:t>1.1 Onderzoek de opties van de windsnelheid sensoren.</a:t>
            </a:r>
          </a:p>
          <a:p>
            <a:pPr>
              <a:lnSpc>
                <a:spcPct val="90000"/>
              </a:lnSpc>
            </a:pPr>
            <a:r>
              <a:rPr lang="nl-NL" sz="1700"/>
              <a:t>1.2 Schrijf het onderzoekverslag over windsnelheid sensoren.</a:t>
            </a:r>
          </a:p>
          <a:p>
            <a:pPr>
              <a:lnSpc>
                <a:spcPct val="90000"/>
              </a:lnSpc>
            </a:pPr>
            <a:endParaRPr lang="en-US" sz="1700"/>
          </a:p>
        </p:txBody>
      </p:sp>
      <p:pic>
        <p:nvPicPr>
          <p:cNvPr id="5" name="Tijdelijke aanduiding voor inhoud 4">
            <a:extLst>
              <a:ext uri="{FF2B5EF4-FFF2-40B4-BE49-F238E27FC236}">
                <a16:creationId xmlns:a16="http://schemas.microsoft.com/office/drawing/2014/main" id="{2D34B1E3-DB95-7053-91F8-E96E4D9660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141" r="-6" b="1117"/>
          <a:stretch>
            <a:fillRect/>
          </a:stretch>
        </p:blipFill>
        <p:spPr>
          <a:xfrm>
            <a:off x="6129405" y="609600"/>
            <a:ext cx="3144597" cy="2601747"/>
          </a:xfrm>
          <a:prstGeom prst="rect">
            <a:avLst/>
          </a:prstGeom>
        </p:spPr>
      </p:pic>
      <p:pic>
        <p:nvPicPr>
          <p:cNvPr id="4" name="Afbeelding 3" descr="Afbeelding met gereedschap, Huishoudelijke ijzerwaren, overdekt, zwart-wit&#10;&#10;Door AI gegenereerde inhoud is mogelijk onjuist.">
            <a:extLst>
              <a:ext uri="{FF2B5EF4-FFF2-40B4-BE49-F238E27FC236}">
                <a16:creationId xmlns:a16="http://schemas.microsoft.com/office/drawing/2014/main" id="{8119C939-0554-70CE-36DB-11C69AB1D6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583" r="4737" b="-4"/>
          <a:stretch>
            <a:fillRect/>
          </a:stretch>
        </p:blipFill>
        <p:spPr>
          <a:xfrm>
            <a:off x="6129405" y="3439947"/>
            <a:ext cx="3144597" cy="2601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79579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A1C2364-5641-CF98-3D3E-BDABD21664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0" y="609600"/>
            <a:ext cx="2930518" cy="13208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800" err="1"/>
              <a:t>Onderzoek</a:t>
            </a:r>
            <a:r>
              <a:rPr lang="en-US" sz="2800"/>
              <a:t> </a:t>
            </a:r>
            <a:r>
              <a:rPr lang="en-US" sz="2800" err="1"/>
              <a:t>naar</a:t>
            </a:r>
            <a:r>
              <a:rPr lang="en-US" sz="2800"/>
              <a:t> micro controller</a:t>
            </a:r>
            <a:endParaRPr lang="nl-NL" sz="280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2B81107-617C-6C59-4A31-B3A332ABC4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0" y="2160589"/>
            <a:ext cx="3530876" cy="4161553"/>
          </a:xfrm>
        </p:spPr>
        <p:txBody>
          <a:bodyPr>
            <a:normAutofit fontScale="92500" lnSpcReduction="20000"/>
          </a:bodyPr>
          <a:lstStyle/>
          <a:p>
            <a:r>
              <a:rPr lang="en-US" dirty="0" err="1"/>
              <a:t>Onderzoeksverslag</a:t>
            </a:r>
            <a:r>
              <a:rPr lang="en-US" dirty="0"/>
              <a:t> is </a:t>
            </a:r>
            <a:r>
              <a:rPr lang="en-US" dirty="0" err="1"/>
              <a:t>geschreven</a:t>
            </a:r>
            <a:endParaRPr lang="en-US" dirty="0"/>
          </a:p>
          <a:p>
            <a:r>
              <a:rPr lang="en-US" dirty="0"/>
              <a:t>In </a:t>
            </a:r>
            <a:r>
              <a:rPr lang="en-US" dirty="0" err="1"/>
              <a:t>overleg</a:t>
            </a:r>
            <a:r>
              <a:rPr lang="en-US" dirty="0"/>
              <a:t> met de product owner</a:t>
            </a:r>
          </a:p>
          <a:p>
            <a:endParaRPr lang="en-US" dirty="0"/>
          </a:p>
          <a:p>
            <a:r>
              <a:rPr lang="en-US" dirty="0"/>
              <a:t>User story:</a:t>
            </a:r>
          </a:p>
          <a:p>
            <a:r>
              <a:rPr lang="nl-NL" dirty="0"/>
              <a:t>11. Ik wil dat het weerstation via een microcontroller </a:t>
            </a:r>
            <a:r>
              <a:rPr lang="nl-NL" dirty="0" err="1"/>
              <a:t>aanstuurbaar</a:t>
            </a:r>
            <a:r>
              <a:rPr lang="nl-NL" dirty="0"/>
              <a:t> kan zijn.</a:t>
            </a:r>
          </a:p>
          <a:p>
            <a:r>
              <a:rPr lang="en-US" dirty="0"/>
              <a:t>Taken:</a:t>
            </a:r>
          </a:p>
          <a:p>
            <a:r>
              <a:rPr lang="nl-NL" dirty="0"/>
              <a:t>11.1 Onderzoek de opties van microcontrollers.</a:t>
            </a:r>
          </a:p>
          <a:p>
            <a:r>
              <a:rPr lang="nl-NL" dirty="0"/>
              <a:t>11.2 Schrijf het onderzoekverslag van microcontrollers.</a:t>
            </a:r>
          </a:p>
        </p:txBody>
      </p:sp>
      <p:pic>
        <p:nvPicPr>
          <p:cNvPr id="9" name="Afbeelding 8">
            <a:extLst>
              <a:ext uri="{FF2B5EF4-FFF2-40B4-BE49-F238E27FC236}">
                <a16:creationId xmlns:a16="http://schemas.microsoft.com/office/drawing/2014/main" id="{00A8B24A-1647-AF63-CF5B-B46E0E5B94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3484" y="609600"/>
            <a:ext cx="2075000" cy="2075000"/>
          </a:xfrm>
          <a:prstGeom prst="rect">
            <a:avLst/>
          </a:prstGeom>
        </p:spPr>
      </p:pic>
      <p:pic>
        <p:nvPicPr>
          <p:cNvPr id="5" name="Afbeelding 4">
            <a:extLst>
              <a:ext uri="{FF2B5EF4-FFF2-40B4-BE49-F238E27FC236}">
                <a16:creationId xmlns:a16="http://schemas.microsoft.com/office/drawing/2014/main" id="{09C14804-DA71-1B66-4304-D7DE3B9D68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710" r="-1" b="14247"/>
          <a:stretch>
            <a:fillRect/>
          </a:stretch>
        </p:blipFill>
        <p:spPr>
          <a:xfrm>
            <a:off x="6677718" y="685927"/>
            <a:ext cx="2596281" cy="1922345"/>
          </a:xfrm>
          <a:prstGeom prst="rect">
            <a:avLst/>
          </a:prstGeom>
        </p:spPr>
      </p:pic>
      <p:pic>
        <p:nvPicPr>
          <p:cNvPr id="7" name="Afbeelding 6">
            <a:extLst>
              <a:ext uri="{FF2B5EF4-FFF2-40B4-BE49-F238E27FC236}">
                <a16:creationId xmlns:a16="http://schemas.microsoft.com/office/drawing/2014/main" id="{AAF283D3-6AC9-3ABB-7B9D-BD20619532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06"/>
          <a:stretch>
            <a:fillRect/>
          </a:stretch>
        </p:blipFill>
        <p:spPr>
          <a:xfrm>
            <a:off x="4437256" y="2910558"/>
            <a:ext cx="4252327" cy="3130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52003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DDB925-98FC-84D9-EF9F-BE9D343EC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6746" y="609600"/>
            <a:ext cx="3729076" cy="1320800"/>
          </a:xfrm>
        </p:spPr>
        <p:txBody>
          <a:bodyPr anchor="ctr">
            <a:normAutofit/>
          </a:bodyPr>
          <a:lstStyle/>
          <a:p>
            <a:r>
              <a:rPr lang="en-US"/>
              <a:t>Sprint 2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C285144-27BD-6410-BA01-51F26F347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167" y="2160589"/>
            <a:ext cx="3720916" cy="3560733"/>
          </a:xfrm>
        </p:spPr>
        <p:txBody>
          <a:bodyPr>
            <a:normAutofit/>
          </a:bodyPr>
          <a:lstStyle/>
          <a:p>
            <a:r>
              <a:rPr lang="en-US" dirty="0" err="1"/>
              <a:t>Langdurige</a:t>
            </a:r>
            <a:r>
              <a:rPr lang="en-US" dirty="0"/>
              <a:t> planning </a:t>
            </a:r>
            <a:r>
              <a:rPr lang="en-US" dirty="0" err="1"/>
              <a:t>maken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Als de </a:t>
            </a:r>
            <a:r>
              <a:rPr lang="en-US" dirty="0" err="1"/>
              <a:t>sensoren</a:t>
            </a:r>
            <a:r>
              <a:rPr lang="en-US" dirty="0"/>
              <a:t> </a:t>
            </a:r>
            <a:r>
              <a:rPr lang="en-US" dirty="0" err="1"/>
              <a:t>binnen</a:t>
            </a:r>
            <a:r>
              <a:rPr lang="en-US" dirty="0"/>
              <a:t> </a:t>
            </a:r>
            <a:r>
              <a:rPr lang="en-US" dirty="0" err="1"/>
              <a:t>zijn</a:t>
            </a:r>
            <a:r>
              <a:rPr lang="en-US" dirty="0"/>
              <a:t>:</a:t>
            </a:r>
          </a:p>
          <a:p>
            <a:endParaRPr lang="en-US" dirty="0"/>
          </a:p>
        </p:txBody>
      </p:sp>
      <p:graphicFrame>
        <p:nvGraphicFramePr>
          <p:cNvPr id="6" name="Tabel 5">
            <a:extLst>
              <a:ext uri="{FF2B5EF4-FFF2-40B4-BE49-F238E27FC236}">
                <a16:creationId xmlns:a16="http://schemas.microsoft.com/office/drawing/2014/main" id="{51D553B3-EACE-EF01-E458-E561A7BA70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5669380"/>
              </p:ext>
            </p:extLst>
          </p:nvPr>
        </p:nvGraphicFramePr>
        <p:xfrm>
          <a:off x="4645613" y="899249"/>
          <a:ext cx="6861220" cy="56499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8891">
                  <a:extLst>
                    <a:ext uri="{9D8B030D-6E8A-4147-A177-3AD203B41FA5}">
                      <a16:colId xmlns:a16="http://schemas.microsoft.com/office/drawing/2014/main" val="4067886319"/>
                    </a:ext>
                  </a:extLst>
                </a:gridCol>
                <a:gridCol w="3322329">
                  <a:extLst>
                    <a:ext uri="{9D8B030D-6E8A-4147-A177-3AD203B41FA5}">
                      <a16:colId xmlns:a16="http://schemas.microsoft.com/office/drawing/2014/main" val="660744966"/>
                    </a:ext>
                  </a:extLst>
                </a:gridCol>
              </a:tblGrid>
              <a:tr h="349540">
                <a:tc>
                  <a:txBody>
                    <a:bodyPr/>
                    <a:lstStyle/>
                    <a:p>
                      <a:r>
                        <a:rPr lang="en-US" sz="1200"/>
                        <a:t>User story</a:t>
                      </a:r>
                      <a:endParaRPr lang="nl-NL" sz="1200"/>
                    </a:p>
                  </a:txBody>
                  <a:tcPr marL="61529" marR="61529" marT="30765" marB="30765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taken</a:t>
                      </a:r>
                      <a:endParaRPr lang="nl-NL" sz="1200"/>
                    </a:p>
                  </a:txBody>
                  <a:tcPr marL="61529" marR="61529" marT="30765" marB="30765"/>
                </a:tc>
                <a:extLst>
                  <a:ext uri="{0D108BD9-81ED-4DB2-BD59-A6C34878D82A}">
                    <a16:rowId xmlns:a16="http://schemas.microsoft.com/office/drawing/2014/main" val="3999946025"/>
                  </a:ext>
                </a:extLst>
              </a:tr>
              <a:tr h="106450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/>
                        <a:t>10. </a:t>
                      </a:r>
                      <a:r>
                        <a:rPr lang="nl-NL" sz="16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Ik wil dat de microcontroller de motor kan aansturen op basis van de data.</a:t>
                      </a:r>
                    </a:p>
                    <a:p>
                      <a:endParaRPr lang="nl-NL" sz="1600" b="1" dirty="0"/>
                    </a:p>
                  </a:txBody>
                  <a:tcPr marL="61529" marR="61529" marT="30765" marB="30765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6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10.1/12.1 Bestudeer de verkregen motorprestatiegegevens</a:t>
                      </a:r>
                    </a:p>
                    <a:p>
                      <a:endParaRPr lang="nl-NL" sz="1600" b="1" dirty="0"/>
                    </a:p>
                  </a:txBody>
                  <a:tcPr marL="61529" marR="61529" marT="30765" marB="30765"/>
                </a:tc>
                <a:extLst>
                  <a:ext uri="{0D108BD9-81ED-4DB2-BD59-A6C34878D82A}">
                    <a16:rowId xmlns:a16="http://schemas.microsoft.com/office/drawing/2014/main" val="944690521"/>
                  </a:ext>
                </a:extLst>
              </a:tr>
              <a:tr h="106450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/>
                        <a:t>15. </a:t>
                      </a:r>
                      <a:r>
                        <a:rPr lang="nl-NL" sz="16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Ik wil de het weerstation altijd werkt ook al heeft hij geen stroomtoevoer.</a:t>
                      </a:r>
                    </a:p>
                    <a:p>
                      <a:endParaRPr lang="nl-NL" sz="1600" b="1" dirty="0"/>
                    </a:p>
                  </a:txBody>
                  <a:tcPr marL="61529" marR="61529" marT="30765" marB="30765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6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15.1 Onderzoek wat is de opties van zelfvoorziening.</a:t>
                      </a:r>
                    </a:p>
                    <a:p>
                      <a:endParaRPr lang="nl-NL" sz="1600" b="1" dirty="0"/>
                    </a:p>
                  </a:txBody>
                  <a:tcPr marL="61529" marR="61529" marT="30765" marB="30765"/>
                </a:tc>
                <a:extLst>
                  <a:ext uri="{0D108BD9-81ED-4DB2-BD59-A6C34878D82A}">
                    <a16:rowId xmlns:a16="http://schemas.microsoft.com/office/drawing/2014/main" val="2322170192"/>
                  </a:ext>
                </a:extLst>
              </a:tr>
              <a:tr h="826186">
                <a:tc>
                  <a:txBody>
                    <a:bodyPr/>
                    <a:lstStyle/>
                    <a:p>
                      <a:r>
                        <a:rPr lang="en-US" sz="1600" b="1"/>
                        <a:t>14. </a:t>
                      </a:r>
                      <a:r>
                        <a:rPr lang="nl-NL" sz="1600" b="1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Ik wil in noodgevallen de motor van afstand kunnen aansturen of uitzetten.</a:t>
                      </a:r>
                      <a:endParaRPr lang="nl-NL" sz="1600" b="1"/>
                    </a:p>
                  </a:txBody>
                  <a:tcPr marL="61529" marR="61529" marT="30765" marB="30765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600" b="1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14.1 Onderzoek wat is de beste optie app of website.</a:t>
                      </a:r>
                    </a:p>
                    <a:p>
                      <a:endParaRPr lang="nl-NL" sz="1600" b="1"/>
                    </a:p>
                  </a:txBody>
                  <a:tcPr marL="61529" marR="61529" marT="30765" marB="30765"/>
                </a:tc>
                <a:extLst>
                  <a:ext uri="{0D108BD9-81ED-4DB2-BD59-A6C34878D82A}">
                    <a16:rowId xmlns:a16="http://schemas.microsoft.com/office/drawing/2014/main" val="3770607082"/>
                  </a:ext>
                </a:extLst>
              </a:tr>
              <a:tr h="826186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/>
                        <a:t>2. </a:t>
                      </a:r>
                      <a:r>
                        <a:rPr lang="nl-NL" sz="16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Ik wil dat het er een sensor is om de windrichting te kunnen meten zodat ik de data van de windrichting kan krijgen</a:t>
                      </a:r>
                      <a:endParaRPr lang="nl-NL" sz="1600" b="1" dirty="0"/>
                    </a:p>
                    <a:p>
                      <a:endParaRPr lang="nl-NL" sz="1600" b="1" dirty="0"/>
                    </a:p>
                  </a:txBody>
                  <a:tcPr marL="61529" marR="61529" marT="30765" marB="30765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6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2.4 Kalibeer de windrichting sensor</a:t>
                      </a:r>
                      <a:endParaRPr lang="nl-NL" sz="1600" b="1" dirty="0"/>
                    </a:p>
                    <a:p>
                      <a:endParaRPr lang="nl-NL" sz="1600" b="1" dirty="0"/>
                    </a:p>
                  </a:txBody>
                  <a:tcPr marL="61529" marR="61529" marT="30765" marB="30765"/>
                </a:tc>
                <a:extLst>
                  <a:ext uri="{0D108BD9-81ED-4DB2-BD59-A6C34878D82A}">
                    <a16:rowId xmlns:a16="http://schemas.microsoft.com/office/drawing/2014/main" val="1230054864"/>
                  </a:ext>
                </a:extLst>
              </a:tr>
              <a:tr h="1064509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/>
                        <a:t>1.</a:t>
                      </a:r>
                      <a:r>
                        <a:rPr lang="nl-NL" sz="16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Ik wil dat er een sensor is die de windsnelheid meet zodat ik de data van de windsnelheid kan krijgen.</a:t>
                      </a:r>
                      <a:endParaRPr lang="nl-NL" sz="1600" b="1" dirty="0"/>
                    </a:p>
                    <a:p>
                      <a:endParaRPr lang="nl-NL" sz="1600" b="1" dirty="0"/>
                    </a:p>
                  </a:txBody>
                  <a:tcPr marL="61529" marR="61529" marT="30765" marB="30765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6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1.4 Kalibreer de windsnelheid sensor.</a:t>
                      </a:r>
                      <a:endParaRPr lang="nl-NL" sz="1600" b="1" dirty="0"/>
                    </a:p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nl-NL" sz="1600" b="1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nl-NL" sz="1600" b="1" dirty="0"/>
                    </a:p>
                  </a:txBody>
                  <a:tcPr marL="61529" marR="61529" marT="30765" marB="30765"/>
                </a:tc>
                <a:extLst>
                  <a:ext uri="{0D108BD9-81ED-4DB2-BD59-A6C34878D82A}">
                    <a16:rowId xmlns:a16="http://schemas.microsoft.com/office/drawing/2014/main" val="18728919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36070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636FC9-F074-6C8A-374C-D56C55FA3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Retrospective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36BF950-6A1D-5419-EA60-0E4FE83A99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293603832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43</TotalTime>
  <Words>289</Words>
  <Application>Microsoft Office PowerPoint</Application>
  <PresentationFormat>Breedbeeld</PresentationFormat>
  <Paragraphs>51</Paragraphs>
  <Slides>7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7</vt:i4>
      </vt:variant>
    </vt:vector>
  </HeadingPairs>
  <TitlesOfParts>
    <vt:vector size="11" baseType="lpstr">
      <vt:lpstr>Arial</vt:lpstr>
      <vt:lpstr>Trebuchet MS</vt:lpstr>
      <vt:lpstr>Wingdings 3</vt:lpstr>
      <vt:lpstr>Facet</vt:lpstr>
      <vt:lpstr>Plastic vanger</vt:lpstr>
      <vt:lpstr>Inleiding</vt:lpstr>
      <vt:lpstr>Gesprek met product owner</vt:lpstr>
      <vt:lpstr>Onderzoek naar sensoren</vt:lpstr>
      <vt:lpstr>Onderzoek naar micro controller</vt:lpstr>
      <vt:lpstr>Sprint 2</vt:lpstr>
      <vt:lpstr>Retrospective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Merel van der Leeden (1103194)</dc:creator>
  <cp:lastModifiedBy>Merel van der Leeden (1103194)</cp:lastModifiedBy>
  <cp:revision>2</cp:revision>
  <dcterms:created xsi:type="dcterms:W3CDTF">2025-09-19T12:57:49Z</dcterms:created>
  <dcterms:modified xsi:type="dcterms:W3CDTF">2025-09-23T08:43:09Z</dcterms:modified>
</cp:coreProperties>
</file>