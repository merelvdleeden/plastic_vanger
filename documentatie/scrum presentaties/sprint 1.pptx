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894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838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047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836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373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657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45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78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644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158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5953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0923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8448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025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647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756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AC342-9467-4EF1-BE59-841E266529DF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8141D3B-BB8B-40C5-B7C3-DAF6494E94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938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B32CA-9AAC-368D-315D-BEBBC0C41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Plastic </a:t>
            </a:r>
            <a:r>
              <a:rPr lang="en-US" dirty="0" err="1"/>
              <a:t>vanger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3D459B-7EA7-14E0-5E8C-5F9B9B030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Merel van der Leeden</a:t>
            </a:r>
          </a:p>
          <a:p>
            <a:pPr algn="l"/>
            <a:r>
              <a:rPr lang="en-US" dirty="0"/>
              <a:t>Aron </a:t>
            </a:r>
            <a:r>
              <a:rPr lang="en-US" dirty="0" err="1"/>
              <a:t>Vleij</a:t>
            </a:r>
            <a:endParaRPr lang="en-US" dirty="0"/>
          </a:p>
          <a:p>
            <a:pPr algn="l"/>
            <a:r>
              <a:rPr lang="en-US" dirty="0"/>
              <a:t>Pavlo </a:t>
            </a:r>
            <a:r>
              <a:rPr lang="en-US" dirty="0" err="1"/>
              <a:t>Petraschkevych</a:t>
            </a:r>
            <a:endParaRPr lang="en-US" dirty="0"/>
          </a:p>
          <a:p>
            <a:pPr algn="l"/>
            <a:r>
              <a:rPr lang="en-US" dirty="0"/>
              <a:t>Jullian Lima Spencer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793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BA373-9A32-3203-8572-C340FF0B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Inleiding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76293F-A820-B584-6C70-F6C56728A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Gesprek met de product </a:t>
            </a:r>
            <a:r>
              <a:rPr lang="nl-NL" dirty="0" err="1"/>
              <a:t>owner</a:t>
            </a:r>
            <a:endParaRPr lang="nl-NL" dirty="0"/>
          </a:p>
          <a:p>
            <a:r>
              <a:rPr lang="nl-NL" dirty="0"/>
              <a:t>Onderzoek naar sensoren</a:t>
            </a:r>
          </a:p>
          <a:p>
            <a:r>
              <a:rPr lang="nl-NL" dirty="0"/>
              <a:t>Onderzoek naar micro controller</a:t>
            </a:r>
          </a:p>
          <a:p>
            <a:r>
              <a:rPr lang="nl-NL" dirty="0"/>
              <a:t>Sprint 2</a:t>
            </a:r>
          </a:p>
          <a:p>
            <a:r>
              <a:rPr lang="nl-NL" dirty="0" err="1"/>
              <a:t>retrospective</a:t>
            </a:r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569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DC8E8-02C7-CA06-DC51-1668982B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 err="1"/>
              <a:t>Gesprek</a:t>
            </a:r>
            <a:r>
              <a:rPr lang="en-US" dirty="0"/>
              <a:t> met product owner</a:t>
            </a:r>
            <a:endParaRPr lang="nl-N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A4438D-7104-8BA3-6B01-D81D3D9D9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880773"/>
          </a:xfrm>
        </p:spPr>
        <p:txBody>
          <a:bodyPr>
            <a:normAutofit/>
          </a:bodyPr>
          <a:lstStyle/>
          <a:p>
            <a:r>
              <a:rPr lang="en-US" dirty="0" err="1"/>
              <a:t>Uitleg</a:t>
            </a:r>
            <a:r>
              <a:rPr lang="en-US" dirty="0"/>
              <a:t> </a:t>
            </a:r>
            <a:r>
              <a:rPr lang="en-US" dirty="0" err="1"/>
              <a:t>gekregen</a:t>
            </a:r>
            <a:r>
              <a:rPr lang="en-US" dirty="0"/>
              <a:t> over hoe het system </a:t>
            </a:r>
            <a:r>
              <a:rPr lang="en-US" dirty="0" err="1"/>
              <a:t>werkt</a:t>
            </a:r>
            <a:endParaRPr lang="en-US" dirty="0"/>
          </a:p>
          <a:p>
            <a:endParaRPr lang="en-US" dirty="0"/>
          </a:p>
        </p:txBody>
      </p:sp>
      <p:pic>
        <p:nvPicPr>
          <p:cNvPr id="5" name="Tijdelijke aanduiding voor inhoud 4" descr="Afbeelding met buitenshuis, gebouw, meer, water&#10;&#10;Door AI gegenereerde inhoud is mogelijk onjuist.">
            <a:extLst>
              <a:ext uri="{FF2B5EF4-FFF2-40B4-BE49-F238E27FC236}">
                <a16:creationId xmlns:a16="http://schemas.microsoft.com/office/drawing/2014/main" id="{BB94B75D-87A4-DFA8-DB72-0AA0B49EE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0" r="-2" b="-2"/>
          <a:stretch>
            <a:fillRect/>
          </a:stretch>
        </p:blipFill>
        <p:spPr>
          <a:xfrm>
            <a:off x="5056949" y="1296099"/>
            <a:ext cx="6078411" cy="534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DFBBA17-68C1-41F9-89F3-78F3F2DB9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054DDBF-C387-4540-A45A-F9BEB040C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BD859CE-CE14-4780-AE18-EAE4B3284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B8A132-768E-483C-A30F-37EB64E04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F81F31DC-17B7-43F3-B8DB-CA79E1A1E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66612D03-B350-4569-BA9B-D1E1F914A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382562E-51EA-49FC-9CA9-9E3E9FCFA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F202B3CB-9607-4519-9EB5-286A461D8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8635CEA0-18EC-41D7-BFAE-B45A7669C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FC79C36B-0CF0-4AA7-A3BF-42D6B9317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1D6C24F4-F8D2-44C2-8CFA-D14C5561D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F71A406-3CB7-4E4D-B434-24E6AA4F3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1772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7" name="Afbeelding 6" descr="Afbeelding met buitenshuis, water, meer, grond&#10;&#10;Door AI gegenereerde inhoud is mogelijk onjuist.">
            <a:extLst>
              <a:ext uri="{FF2B5EF4-FFF2-40B4-BE49-F238E27FC236}">
                <a16:creationId xmlns:a16="http://schemas.microsoft.com/office/drawing/2014/main" id="{4824E7CD-560B-8EC1-6E57-EE70CB576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29" r="2" b="2"/>
          <a:stretch>
            <a:fillRect/>
          </a:stretch>
        </p:blipFill>
        <p:spPr>
          <a:xfrm>
            <a:off x="20" y="3"/>
            <a:ext cx="6050260" cy="4091667"/>
          </a:xfrm>
          <a:prstGeom prst="rect">
            <a:avLst/>
          </a:prstGeom>
        </p:spPr>
      </p:pic>
      <p:pic>
        <p:nvPicPr>
          <p:cNvPr id="5" name="Tijdelijke aanduiding voor inhoud 4" descr="Afbeelding met water, meer, buitenshuis, vaarweg&#10;&#10;Door AI gegenereerde inhoud is mogelijk onjuist.">
            <a:extLst>
              <a:ext uri="{FF2B5EF4-FFF2-40B4-BE49-F238E27FC236}">
                <a16:creationId xmlns:a16="http://schemas.microsoft.com/office/drawing/2014/main" id="{60E992EA-9B2F-2A58-E761-8076E3BD8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9816"/>
          <a:stretch>
            <a:fillRect/>
          </a:stretch>
        </p:blipFill>
        <p:spPr>
          <a:xfrm>
            <a:off x="6141719" y="-683"/>
            <a:ext cx="6050280" cy="40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07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2D427-EDA4-B89F-F0C0-DAB761AB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222281" cy="1320800"/>
          </a:xfrm>
        </p:spPr>
        <p:txBody>
          <a:bodyPr>
            <a:normAutofit/>
          </a:bodyPr>
          <a:lstStyle/>
          <a:p>
            <a:r>
              <a:rPr lang="en-US" dirty="0" err="1"/>
              <a:t>Onderzoek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sensoren</a:t>
            </a:r>
            <a:endParaRPr lang="nl-NL" dirty="0"/>
          </a:p>
        </p:txBody>
      </p:sp>
      <p:sp>
        <p:nvSpPr>
          <p:cNvPr id="38" name="Isosceles Triangle 8">
            <a:extLst>
              <a:ext uri="{FF2B5EF4-FFF2-40B4-BE49-F238E27FC236}">
                <a16:creationId xmlns:a16="http://schemas.microsoft.com/office/drawing/2014/main" id="{E7038D70-4165-4B7C-81B1-689029C47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5128FD-6A1D-F470-1760-0C9B7F14C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01" y="2160589"/>
            <a:ext cx="5211607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err="1"/>
              <a:t>Onderzoeksverslag</a:t>
            </a:r>
            <a:r>
              <a:rPr lang="en-US" sz="1700"/>
              <a:t> is </a:t>
            </a:r>
            <a:r>
              <a:rPr lang="en-US" sz="1700" err="1"/>
              <a:t>geschreven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in </a:t>
            </a:r>
            <a:r>
              <a:rPr lang="en-US" sz="1700" err="1"/>
              <a:t>overleg</a:t>
            </a:r>
            <a:r>
              <a:rPr lang="en-US" sz="1700"/>
              <a:t> met de </a:t>
            </a:r>
            <a:r>
              <a:rPr lang="en-US" sz="1700" err="1"/>
              <a:t>productowner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User story:</a:t>
            </a:r>
          </a:p>
          <a:p>
            <a:pPr>
              <a:lnSpc>
                <a:spcPct val="90000"/>
              </a:lnSpc>
            </a:pPr>
            <a:r>
              <a:rPr lang="en-US" sz="1700"/>
              <a:t>1.</a:t>
            </a:r>
            <a:r>
              <a:rPr lang="nl-NL" sz="1700"/>
              <a:t> Ik wil dat er een sensor is die de windsnelheid meet zodat ik de data van de windsnelheid kan krijgen.</a:t>
            </a:r>
          </a:p>
          <a:p>
            <a:pPr>
              <a:lnSpc>
                <a:spcPct val="90000"/>
              </a:lnSpc>
            </a:pPr>
            <a:r>
              <a:rPr lang="nl-NL" sz="1700"/>
              <a:t>Taken: </a:t>
            </a:r>
          </a:p>
          <a:p>
            <a:pPr>
              <a:lnSpc>
                <a:spcPct val="90000"/>
              </a:lnSpc>
            </a:pPr>
            <a:r>
              <a:rPr lang="nl-NL" sz="1700"/>
              <a:t>1.1 Onderzoek de opties van de windsnelheid sensoren.</a:t>
            </a:r>
          </a:p>
          <a:p>
            <a:pPr>
              <a:lnSpc>
                <a:spcPct val="90000"/>
              </a:lnSpc>
            </a:pPr>
            <a:r>
              <a:rPr lang="nl-NL" sz="1700"/>
              <a:t>1.2 Schrijf het onderzoekverslag over windsnelheid sensoren.</a:t>
            </a:r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2D34B1E3-DB95-7053-91F8-E96E4D966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1" r="-6" b="1117"/>
          <a:stretch>
            <a:fillRect/>
          </a:stretch>
        </p:blipFill>
        <p:spPr>
          <a:xfrm>
            <a:off x="6129405" y="609600"/>
            <a:ext cx="3144597" cy="2601747"/>
          </a:xfrm>
          <a:prstGeom prst="rect">
            <a:avLst/>
          </a:prstGeom>
        </p:spPr>
      </p:pic>
      <p:pic>
        <p:nvPicPr>
          <p:cNvPr id="4" name="Afbeelding 3" descr="Afbeelding met gereedschap, Huishoudelijke ijzerwaren, overdekt, zwart-wit&#10;&#10;Door AI gegenereerde inhoud is mogelijk onjuist.">
            <a:extLst>
              <a:ext uri="{FF2B5EF4-FFF2-40B4-BE49-F238E27FC236}">
                <a16:creationId xmlns:a16="http://schemas.microsoft.com/office/drawing/2014/main" id="{8119C939-0554-70CE-36DB-11C69AB1D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3" r="4737" b="-4"/>
          <a:stretch>
            <a:fillRect/>
          </a:stretch>
        </p:blipFill>
        <p:spPr>
          <a:xfrm>
            <a:off x="6129405" y="3439947"/>
            <a:ext cx="3144597" cy="2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5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C2364-5641-CF98-3D3E-BDABD216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0" y="609600"/>
            <a:ext cx="2930518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err="1"/>
              <a:t>Onderzoek</a:t>
            </a:r>
            <a:r>
              <a:rPr lang="en-US" sz="2800"/>
              <a:t> </a:t>
            </a:r>
            <a:r>
              <a:rPr lang="en-US" sz="2800" err="1"/>
              <a:t>naar</a:t>
            </a:r>
            <a:r>
              <a:rPr lang="en-US" sz="2800"/>
              <a:t> micro controller</a:t>
            </a:r>
            <a:endParaRPr lang="nl-NL" sz="280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B81107-617C-6C59-4A31-B3A332AB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0" y="2160589"/>
            <a:ext cx="3530876" cy="416155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Onderzoeksverslag</a:t>
            </a:r>
            <a:r>
              <a:rPr lang="en-US" dirty="0"/>
              <a:t> is </a:t>
            </a:r>
            <a:r>
              <a:rPr lang="en-US" dirty="0" err="1"/>
              <a:t>geschreven</a:t>
            </a:r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overleg</a:t>
            </a:r>
            <a:r>
              <a:rPr lang="en-US" dirty="0"/>
              <a:t> met de product owner</a:t>
            </a:r>
          </a:p>
          <a:p>
            <a:endParaRPr lang="en-US" dirty="0"/>
          </a:p>
          <a:p>
            <a:r>
              <a:rPr lang="en-US" dirty="0"/>
              <a:t>User story:</a:t>
            </a:r>
          </a:p>
          <a:p>
            <a:r>
              <a:rPr lang="nl-NL" dirty="0"/>
              <a:t>11. Ik wil dat het weerstation via een microcontroller </a:t>
            </a:r>
            <a:r>
              <a:rPr lang="nl-NL" dirty="0" err="1"/>
              <a:t>aanstuurbaar</a:t>
            </a:r>
            <a:r>
              <a:rPr lang="nl-NL" dirty="0"/>
              <a:t> kan zijn.</a:t>
            </a:r>
          </a:p>
          <a:p>
            <a:r>
              <a:rPr lang="en-US" dirty="0"/>
              <a:t>Taken:</a:t>
            </a:r>
          </a:p>
          <a:p>
            <a:r>
              <a:rPr lang="nl-NL" dirty="0"/>
              <a:t>11.1 Onderzoek de opties van microcontrollers.</a:t>
            </a:r>
          </a:p>
          <a:p>
            <a:r>
              <a:rPr lang="nl-NL" dirty="0"/>
              <a:t>11.2 Schrijf het onderzoekverslag van microcontrollers.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0A8B24A-1647-AF63-CF5B-B46E0E5B9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153" y="3535447"/>
            <a:ext cx="1165432" cy="1165432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09C14804-DA71-1B66-4304-D7DE3B9D6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0" r="-1" b="14247"/>
          <a:stretch>
            <a:fillRect/>
          </a:stretch>
        </p:blipFill>
        <p:spPr>
          <a:xfrm>
            <a:off x="4610105" y="2591058"/>
            <a:ext cx="1221528" cy="90444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AF283D3-6AC9-3ABB-7B9D-BD2061953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"/>
          <a:stretch>
            <a:fillRect/>
          </a:stretch>
        </p:blipFill>
        <p:spPr>
          <a:xfrm>
            <a:off x="4393149" y="4542665"/>
            <a:ext cx="1607337" cy="118341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C0D1F4-65FA-1835-39D4-87A7E79F0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294093"/>
              </p:ext>
            </p:extLst>
          </p:nvPr>
        </p:nvGraphicFramePr>
        <p:xfrm>
          <a:off x="6016576" y="1591475"/>
          <a:ext cx="6175421" cy="4287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418">
                  <a:extLst>
                    <a:ext uri="{9D8B030D-6E8A-4147-A177-3AD203B41FA5}">
                      <a16:colId xmlns:a16="http://schemas.microsoft.com/office/drawing/2014/main" val="2627733194"/>
                    </a:ext>
                  </a:extLst>
                </a:gridCol>
                <a:gridCol w="844598">
                  <a:extLst>
                    <a:ext uri="{9D8B030D-6E8A-4147-A177-3AD203B41FA5}">
                      <a16:colId xmlns:a16="http://schemas.microsoft.com/office/drawing/2014/main" val="2150787738"/>
                    </a:ext>
                  </a:extLst>
                </a:gridCol>
                <a:gridCol w="816678">
                  <a:extLst>
                    <a:ext uri="{9D8B030D-6E8A-4147-A177-3AD203B41FA5}">
                      <a16:colId xmlns:a16="http://schemas.microsoft.com/office/drawing/2014/main" val="468366130"/>
                    </a:ext>
                  </a:extLst>
                </a:gridCol>
                <a:gridCol w="848118">
                  <a:extLst>
                    <a:ext uri="{9D8B030D-6E8A-4147-A177-3AD203B41FA5}">
                      <a16:colId xmlns:a16="http://schemas.microsoft.com/office/drawing/2014/main" val="1397205655"/>
                    </a:ext>
                  </a:extLst>
                </a:gridCol>
                <a:gridCol w="882203">
                  <a:extLst>
                    <a:ext uri="{9D8B030D-6E8A-4147-A177-3AD203B41FA5}">
                      <a16:colId xmlns:a16="http://schemas.microsoft.com/office/drawing/2014/main" val="1123180273"/>
                    </a:ext>
                  </a:extLst>
                </a:gridCol>
                <a:gridCol w="882203">
                  <a:extLst>
                    <a:ext uri="{9D8B030D-6E8A-4147-A177-3AD203B41FA5}">
                      <a16:colId xmlns:a16="http://schemas.microsoft.com/office/drawing/2014/main" val="3303097515"/>
                    </a:ext>
                  </a:extLst>
                </a:gridCol>
                <a:gridCol w="882203">
                  <a:extLst>
                    <a:ext uri="{9D8B030D-6E8A-4147-A177-3AD203B41FA5}">
                      <a16:colId xmlns:a16="http://schemas.microsoft.com/office/drawing/2014/main" val="4025165270"/>
                    </a:ext>
                  </a:extLst>
                </a:gridCol>
              </a:tblGrid>
              <a:tr h="971986">
                <a:tc>
                  <a:txBody>
                    <a:bodyPr/>
                    <a:lstStyle/>
                    <a:p>
                      <a:r>
                        <a:rPr lang="en-US" dirty="0"/>
                        <a:t>Naam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Processor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Internet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Snelheid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Energieverbruik</a:t>
                      </a:r>
                      <a:endParaRPr lang="en-NL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Prijs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947197"/>
                  </a:ext>
                </a:extLst>
              </a:tr>
              <a:tr h="971986">
                <a:tc>
                  <a:txBody>
                    <a:bodyPr/>
                    <a:lstStyle/>
                    <a:p>
                      <a:r>
                        <a:rPr lang="en-US" sz="1400" dirty="0"/>
                        <a:t>Arduino uno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8</a:t>
                      </a:r>
                      <a:r>
                        <a:rPr lang="en-US" sz="1400" dirty="0"/>
                        <a:t>bit</a:t>
                      </a:r>
                    </a:p>
                    <a:p>
                      <a:r>
                        <a:rPr lang="en-US" sz="1400" dirty="0"/>
                        <a:t>16MHz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Geen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400" dirty="0" err="1"/>
                        <a:t>Laag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45-50mA</a:t>
                      </a:r>
                    </a:p>
                    <a:p>
                      <a:r>
                        <a:rPr lang="en-US" sz="1400" dirty="0"/>
                        <a:t>tot</a:t>
                      </a:r>
                    </a:p>
                    <a:p>
                      <a:r>
                        <a:rPr lang="en-US" sz="1400" dirty="0"/>
                        <a:t>200mA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 </a:t>
                      </a:r>
                      <a:r>
                        <a:rPr lang="en-US" sz="1400" dirty="0" err="1"/>
                        <a:t>digitaal</a:t>
                      </a:r>
                      <a:r>
                        <a:rPr lang="en-US" sz="1400" dirty="0"/>
                        <a:t>, 6 </a:t>
                      </a:r>
                      <a:r>
                        <a:rPr lang="en-US" sz="1400" dirty="0" err="1"/>
                        <a:t>analoog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SPI, I2C </a:t>
                      </a:r>
                      <a:r>
                        <a:rPr lang="en-US" sz="1400" dirty="0" err="1"/>
                        <a:t>en</a:t>
                      </a:r>
                      <a:r>
                        <a:rPr lang="en-US" sz="1400" dirty="0"/>
                        <a:t> UART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20-30€</a:t>
                      </a:r>
                      <a:endParaRPr lang="en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671987"/>
                  </a:ext>
                </a:extLst>
              </a:tr>
              <a:tr h="971986">
                <a:tc>
                  <a:txBody>
                    <a:bodyPr/>
                    <a:lstStyle/>
                    <a:p>
                      <a:r>
                        <a:rPr lang="en-US" sz="1400" dirty="0"/>
                        <a:t>ESP-32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32bit</a:t>
                      </a:r>
                    </a:p>
                    <a:p>
                      <a:r>
                        <a:rPr lang="uk-UA" sz="1400" dirty="0"/>
                        <a:t>2</a:t>
                      </a:r>
                      <a:r>
                        <a:rPr lang="en-US" sz="1400" dirty="0"/>
                        <a:t> cores</a:t>
                      </a:r>
                    </a:p>
                    <a:p>
                      <a:r>
                        <a:rPr lang="en-US" sz="1400" dirty="0"/>
                        <a:t>240MHz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Wi-Fi</a:t>
                      </a:r>
                    </a:p>
                    <a:p>
                      <a:r>
                        <a:rPr lang="en-US" sz="1400" dirty="0" err="1"/>
                        <a:t>en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Bluetooth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400" dirty="0" err="1"/>
                        <a:t>Gemiddeld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50-240mA+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1400" dirty="0"/>
                        <a:t>30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SPI,I2C </a:t>
                      </a:r>
                      <a:r>
                        <a:rPr lang="en-US" sz="1400" dirty="0" err="1"/>
                        <a:t>en</a:t>
                      </a:r>
                      <a:r>
                        <a:rPr lang="en-US" sz="1400" dirty="0"/>
                        <a:t> DAC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3-10€</a:t>
                      </a:r>
                      <a:endParaRPr lang="en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638572"/>
                  </a:ext>
                </a:extLst>
              </a:tr>
              <a:tr h="971986">
                <a:tc>
                  <a:txBody>
                    <a:bodyPr/>
                    <a:lstStyle/>
                    <a:p>
                      <a:r>
                        <a:rPr lang="en-US" sz="1400" dirty="0"/>
                        <a:t>Raspberry PI 4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64bit</a:t>
                      </a:r>
                    </a:p>
                    <a:p>
                      <a:r>
                        <a:rPr lang="en-US" sz="1400" dirty="0"/>
                        <a:t>4 cores</a:t>
                      </a:r>
                    </a:p>
                    <a:p>
                      <a:r>
                        <a:rPr lang="en-US" sz="1400" dirty="0"/>
                        <a:t>1.5GHz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Wi-Fi</a:t>
                      </a:r>
                    </a:p>
                    <a:p>
                      <a:r>
                        <a:rPr lang="en-US" sz="1400" dirty="0" err="1"/>
                        <a:t>en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Bluetooth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400" dirty="0"/>
                        <a:t>Hoog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3W-5W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</a:t>
                      </a:r>
                    </a:p>
                    <a:p>
                      <a:r>
                        <a:rPr lang="en-US" sz="1400" dirty="0"/>
                        <a:t>I2C, SPI, UART </a:t>
                      </a:r>
                      <a:r>
                        <a:rPr lang="en-US" sz="1400" dirty="0" err="1"/>
                        <a:t>en</a:t>
                      </a:r>
                      <a:r>
                        <a:rPr lang="en-US" sz="1400" dirty="0"/>
                        <a:t> PWM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50-70€</a:t>
                      </a:r>
                      <a:endParaRPr lang="en-NL" sz="1400" dirty="0"/>
                    </a:p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914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20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DB925-98FC-84D9-EF9F-BE9D343E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/>
              <a:t>Sprint 2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285144-27BD-6410-BA01-51F26F347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r>
              <a:rPr lang="en-US" dirty="0" err="1"/>
              <a:t>Langdurige</a:t>
            </a:r>
            <a:r>
              <a:rPr lang="en-US" dirty="0"/>
              <a:t> planning </a:t>
            </a:r>
            <a:r>
              <a:rPr lang="en-US" dirty="0" err="1"/>
              <a:t>maken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Als de </a:t>
            </a:r>
            <a:r>
              <a:rPr lang="en-US" dirty="0" err="1"/>
              <a:t>sensoren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1D553B3-EACE-EF01-E458-E561A7BA7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669380"/>
              </p:ext>
            </p:extLst>
          </p:nvPr>
        </p:nvGraphicFramePr>
        <p:xfrm>
          <a:off x="4645613" y="899249"/>
          <a:ext cx="6861220" cy="5649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8891">
                  <a:extLst>
                    <a:ext uri="{9D8B030D-6E8A-4147-A177-3AD203B41FA5}">
                      <a16:colId xmlns:a16="http://schemas.microsoft.com/office/drawing/2014/main" val="4067886319"/>
                    </a:ext>
                  </a:extLst>
                </a:gridCol>
                <a:gridCol w="3322329">
                  <a:extLst>
                    <a:ext uri="{9D8B030D-6E8A-4147-A177-3AD203B41FA5}">
                      <a16:colId xmlns:a16="http://schemas.microsoft.com/office/drawing/2014/main" val="660744966"/>
                    </a:ext>
                  </a:extLst>
                </a:gridCol>
              </a:tblGrid>
              <a:tr h="349540">
                <a:tc>
                  <a:txBody>
                    <a:bodyPr/>
                    <a:lstStyle/>
                    <a:p>
                      <a:r>
                        <a:rPr lang="en-US" sz="1200"/>
                        <a:t>User story</a:t>
                      </a:r>
                      <a:endParaRPr lang="nl-NL" sz="1200"/>
                    </a:p>
                  </a:txBody>
                  <a:tcPr marL="61529" marR="61529" marT="30765" marB="30765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taken</a:t>
                      </a:r>
                      <a:endParaRPr lang="nl-NL" sz="1200"/>
                    </a:p>
                  </a:txBody>
                  <a:tcPr marL="61529" marR="61529" marT="30765" marB="30765"/>
                </a:tc>
                <a:extLst>
                  <a:ext uri="{0D108BD9-81ED-4DB2-BD59-A6C34878D82A}">
                    <a16:rowId xmlns:a16="http://schemas.microsoft.com/office/drawing/2014/main" val="3999946025"/>
                  </a:ext>
                </a:extLst>
              </a:tr>
              <a:tr h="10645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10. </a:t>
                      </a: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dat de microcontroller de motor kan aansturen op basis van de data.</a:t>
                      </a:r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10.1/12.1 Bestudeer de verkregen motorprestatiegegevens</a:t>
                      </a:r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extLst>
                  <a:ext uri="{0D108BD9-81ED-4DB2-BD59-A6C34878D82A}">
                    <a16:rowId xmlns:a16="http://schemas.microsoft.com/office/drawing/2014/main" val="944690521"/>
                  </a:ext>
                </a:extLst>
              </a:tr>
              <a:tr h="10645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15. </a:t>
                      </a: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de het weerstation altijd werkt ook al heeft hij geen stroomtoevoer.</a:t>
                      </a:r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 Onderzoek wat is de opties van zelfvoorziening.</a:t>
                      </a:r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extLst>
                  <a:ext uri="{0D108BD9-81ED-4DB2-BD59-A6C34878D82A}">
                    <a16:rowId xmlns:a16="http://schemas.microsoft.com/office/drawing/2014/main" val="2322170192"/>
                  </a:ext>
                </a:extLst>
              </a:tr>
              <a:tr h="826186">
                <a:tc>
                  <a:txBody>
                    <a:bodyPr/>
                    <a:lstStyle/>
                    <a:p>
                      <a:r>
                        <a:rPr lang="en-US" sz="1600" b="1"/>
                        <a:t>14. </a:t>
                      </a:r>
                      <a:r>
                        <a:rPr lang="nl-NL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in noodgevallen de motor van afstand kunnen aansturen of uitzetten.</a:t>
                      </a:r>
                      <a:endParaRPr lang="nl-NL" sz="1600" b="1"/>
                    </a:p>
                  </a:txBody>
                  <a:tcPr marL="61529" marR="61529" marT="30765" marB="30765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 Onderzoek wat is de beste optie app of website.</a:t>
                      </a:r>
                    </a:p>
                    <a:p>
                      <a:endParaRPr lang="nl-NL" sz="1600" b="1"/>
                    </a:p>
                  </a:txBody>
                  <a:tcPr marL="61529" marR="61529" marT="30765" marB="30765"/>
                </a:tc>
                <a:extLst>
                  <a:ext uri="{0D108BD9-81ED-4DB2-BD59-A6C34878D82A}">
                    <a16:rowId xmlns:a16="http://schemas.microsoft.com/office/drawing/2014/main" val="3770607082"/>
                  </a:ext>
                </a:extLst>
              </a:tr>
              <a:tr h="82618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2. </a:t>
                      </a: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dat het er een sensor is om de windrichting te kunnen meten zodat ik de data van de windrichting kan krijgen</a:t>
                      </a:r>
                      <a:endParaRPr lang="nl-NL" sz="1600" b="1" dirty="0"/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 Kalibeer de windrichting sensor</a:t>
                      </a:r>
                      <a:endParaRPr lang="nl-NL" sz="1600" b="1" dirty="0"/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extLst>
                  <a:ext uri="{0D108BD9-81ED-4DB2-BD59-A6C34878D82A}">
                    <a16:rowId xmlns:a16="http://schemas.microsoft.com/office/drawing/2014/main" val="1230054864"/>
                  </a:ext>
                </a:extLst>
              </a:tr>
              <a:tr h="10645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1.</a:t>
                      </a: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Ik wil dat er een sensor is die de windsnelheid meet zodat ik de data van de windsnelheid kan krijgen.</a:t>
                      </a:r>
                      <a:endParaRPr lang="nl-NL" sz="1600" b="1" dirty="0"/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 Kalibreer de windsnelheid sensor.</a:t>
                      </a:r>
                      <a:endParaRPr lang="nl-NL" sz="1600" b="1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nl-NL" sz="1600" b="1" dirty="0"/>
                    </a:p>
                  </a:txBody>
                  <a:tcPr marL="61529" marR="61529" marT="30765" marB="30765"/>
                </a:tc>
                <a:extLst>
                  <a:ext uri="{0D108BD9-81ED-4DB2-BD59-A6C34878D82A}">
                    <a16:rowId xmlns:a16="http://schemas.microsoft.com/office/drawing/2014/main" val="1872891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0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36FC9-F074-6C8A-374C-D56C55FA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36BF950-6A1D-5419-EA60-0E4FE83A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Cominucatie</a:t>
            </a:r>
            <a:r>
              <a:rPr lang="en-US" dirty="0"/>
              <a:t> -&gt; </a:t>
            </a:r>
            <a:r>
              <a:rPr lang="en-US" b="1" dirty="0"/>
              <a:t>++</a:t>
            </a:r>
          </a:p>
          <a:p>
            <a:r>
              <a:rPr lang="nl-NL" dirty="0"/>
              <a:t>Aanwezigheid -&gt; </a:t>
            </a:r>
            <a:r>
              <a:rPr lang="nl-NL" b="1" dirty="0"/>
              <a:t>+-</a:t>
            </a:r>
          </a:p>
          <a:p>
            <a:r>
              <a:rPr lang="nl-NL" dirty="0"/>
              <a:t>Te laat komen -&gt; </a:t>
            </a:r>
            <a:r>
              <a:rPr lang="nl-NL" b="1" dirty="0"/>
              <a:t>+-</a:t>
            </a:r>
          </a:p>
        </p:txBody>
      </p:sp>
    </p:spTree>
    <p:extLst>
      <p:ext uri="{BB962C8B-B14F-4D97-AF65-F5344CB8AC3E}">
        <p14:creationId xmlns:p14="http://schemas.microsoft.com/office/powerpoint/2010/main" val="32936038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</TotalTime>
  <Words>370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Plastic vanger</vt:lpstr>
      <vt:lpstr>Inleiding</vt:lpstr>
      <vt:lpstr>Gesprek met product owner</vt:lpstr>
      <vt:lpstr>PowerPoint Presentation</vt:lpstr>
      <vt:lpstr>Onderzoek naar sensoren</vt:lpstr>
      <vt:lpstr>Onderzoek naar micro controller</vt:lpstr>
      <vt:lpstr>Sprint 2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Merel van der Leeden (1103194)</dc:creator>
  <cp:lastModifiedBy>Pavlo Petrashkevych</cp:lastModifiedBy>
  <cp:revision>4</cp:revision>
  <dcterms:created xsi:type="dcterms:W3CDTF">2025-09-19T12:57:49Z</dcterms:created>
  <dcterms:modified xsi:type="dcterms:W3CDTF">2025-09-23T09:33:36Z</dcterms:modified>
</cp:coreProperties>
</file>