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77" r:id="rId7"/>
    <p:sldId id="263" r:id="rId8"/>
    <p:sldId id="264" r:id="rId9"/>
    <p:sldId id="266" r:id="rId10"/>
    <p:sldId id="270" r:id="rId11"/>
    <p:sldId id="271" r:id="rId12"/>
    <p:sldId id="272" r:id="rId13"/>
    <p:sldId id="265" r:id="rId14"/>
    <p:sldId id="268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86310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50395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0256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617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5998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2506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99449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2937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1498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3510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09143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7793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55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01377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8140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664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C7D4-2A85-430B-9211-96D8094A2B97}" type="datetimeFigureOut">
              <a:rPr lang="nl-NL" smtClean="0"/>
              <a:t>11-11-2025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43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7748-D2AC-A60F-C0CA-917578BBC1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2F67EAB-282E-FA64-BF6C-693471B13F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98796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0F3997-2171-5912-8605-3A9E922F8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r>
              <a:rPr lang="en-US" dirty="0"/>
              <a:t>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0DE8A3B-778C-FD37-73F7-C3182E569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Product owner</a:t>
            </a:r>
          </a:p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omschrijving</a:t>
            </a:r>
            <a:endParaRPr lang="en-US" dirty="0"/>
          </a:p>
          <a:p>
            <a:r>
              <a:rPr lang="en-US" dirty="0" err="1"/>
              <a:t>Locatie</a:t>
            </a:r>
            <a:endParaRPr lang="en-US" dirty="0"/>
          </a:p>
          <a:p>
            <a:r>
              <a:rPr lang="en-US" dirty="0"/>
              <a:t>Requirements </a:t>
            </a:r>
            <a:r>
              <a:rPr lang="en-US" dirty="0" err="1"/>
              <a:t>en</a:t>
            </a:r>
            <a:r>
              <a:rPr lang="en-US" dirty="0"/>
              <a:t> Userstories</a:t>
            </a:r>
          </a:p>
          <a:p>
            <a:r>
              <a:rPr lang="en-US" dirty="0" err="1"/>
              <a:t>Onderzoeken</a:t>
            </a:r>
            <a:r>
              <a:rPr lang="en-US" dirty="0"/>
              <a:t> </a:t>
            </a:r>
          </a:p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en-US" dirty="0"/>
          </a:p>
          <a:p>
            <a:r>
              <a:rPr lang="en-US" dirty="0"/>
              <a:t>Flowchart</a:t>
            </a:r>
          </a:p>
          <a:p>
            <a:r>
              <a:rPr lang="en-US" dirty="0" err="1"/>
              <a:t>Testrapport</a:t>
            </a:r>
            <a:endParaRPr lang="en-US" dirty="0"/>
          </a:p>
          <a:p>
            <a:r>
              <a:rPr lang="en-US" dirty="0" err="1"/>
              <a:t>Obstakels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811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815A7B4-532E-48C9-AC24-D78ACF333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1" name="Freeform 14">
              <a:extLst>
                <a:ext uri="{FF2B5EF4-FFF2-40B4-BE49-F238E27FC236}">
                  <a16:creationId xmlns:a16="http://schemas.microsoft.com/office/drawing/2014/main" id="{D40109F4-CE5C-45F4-856E-F3F69C9FD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BAA4DE-3D7B-460B-AE98-D9F9990C0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F1ED3E-4F80-4AF6-A41B-44F53DDE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C0B2D747-3E31-45C5-9A98-A9710A585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15FD4BA-3020-462D-8BE8-B3A65B8E49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A304284A-7318-4DD5-898C-2F6B23C77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9DF48E66-B635-4509-B115-E0987C01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E3B96D94-5F5A-4F4C-810C-917BF4D26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7F3782D6-BFF8-4389-9D39-A023ADAA9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CE162D4-FCAE-441B-B5E9-C91DE621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5819775-F8B6-90D8-31D6-7E230589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199" y="4571999"/>
            <a:ext cx="767380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Product owner (PO)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6DB08DC-9043-AE5F-54EE-7431E23A6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4795" y="5659655"/>
            <a:ext cx="7599205" cy="6118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 -&gt; Prevent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FC26F25-9F74-30B5-FAA2-A56FF9952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1" y="2040660"/>
            <a:ext cx="7625162" cy="221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956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9A8B12-3162-EF51-2E8A-10F569298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omschrijving</a:t>
            </a:r>
            <a:endParaRPr lang="nl-NL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E65CE3B-B1C1-86F2-2240-99C8AFD8E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563" y="2160589"/>
            <a:ext cx="4064439" cy="3880773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pic>
        <p:nvPicPr>
          <p:cNvPr id="4" name="Tijdelijke aanduiding voor inhoud 3" descr="Afbeelding met buitenshuis, water, meer, transport&#10;&#10;Door AI gegenereerde inhoud is mogelijk onjuist.">
            <a:extLst>
              <a:ext uri="{FF2B5EF4-FFF2-40B4-BE49-F238E27FC236}">
                <a16:creationId xmlns:a16="http://schemas.microsoft.com/office/drawing/2014/main" id="{AE93EF3A-879E-092C-E00D-577326DFF1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61" r="-1" b="-1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67807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76582886-877C-4AEC-A77F-8055EB9A0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09" name="Freeform 14">
              <a:extLst>
                <a:ext uri="{FF2B5EF4-FFF2-40B4-BE49-F238E27FC236}">
                  <a16:creationId xmlns:a16="http://schemas.microsoft.com/office/drawing/2014/main" id="{171A838D-27EA-485C-9A80-DCE624AB3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059F313-A1BB-425E-9626-2BD43CAC6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19ABF76A-A1AE-44BB-9ECB-D55D2FE29B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Rectangle 23">
              <a:extLst>
                <a:ext uri="{FF2B5EF4-FFF2-40B4-BE49-F238E27FC236}">
                  <a16:creationId xmlns:a16="http://schemas.microsoft.com/office/drawing/2014/main" id="{5B6D2EC4-82D3-43B8-82D6-028CB43456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11" name="Rectangle 25">
              <a:extLst>
                <a:ext uri="{FF2B5EF4-FFF2-40B4-BE49-F238E27FC236}">
                  <a16:creationId xmlns:a16="http://schemas.microsoft.com/office/drawing/2014/main" id="{520034CE-71F9-4E0F-94D8-99335CB85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12" name="Isosceles Triangle 65">
              <a:extLst>
                <a:ext uri="{FF2B5EF4-FFF2-40B4-BE49-F238E27FC236}">
                  <a16:creationId xmlns:a16="http://schemas.microsoft.com/office/drawing/2014/main" id="{1926C6C0-16F7-4CDC-B481-2D19B2F3B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13" name="Rectangle 27">
              <a:extLst>
                <a:ext uri="{FF2B5EF4-FFF2-40B4-BE49-F238E27FC236}">
                  <a16:creationId xmlns:a16="http://schemas.microsoft.com/office/drawing/2014/main" id="{042CE423-CE6E-4EE9-91F2-3E40EFB40A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14" name="Rectangle 28">
              <a:extLst>
                <a:ext uri="{FF2B5EF4-FFF2-40B4-BE49-F238E27FC236}">
                  <a16:creationId xmlns:a16="http://schemas.microsoft.com/office/drawing/2014/main" id="{699BB4BD-31D7-434C-A6DB-E2CF3ACF60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15" name="Rectangle 29">
              <a:extLst>
                <a:ext uri="{FF2B5EF4-FFF2-40B4-BE49-F238E27FC236}">
                  <a16:creationId xmlns:a16="http://schemas.microsoft.com/office/drawing/2014/main" id="{23D406B8-656A-4D8B-91D0-BF4202C86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16" name="Isosceles Triangle 69">
              <a:extLst>
                <a:ext uri="{FF2B5EF4-FFF2-40B4-BE49-F238E27FC236}">
                  <a16:creationId xmlns:a16="http://schemas.microsoft.com/office/drawing/2014/main" id="{83F4BFB6-D6B8-446C-8E17-3D54DCA9F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9179DE42-5613-4B35-A1E6-6CCBAA13C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B898B32-3891-4C3A-8F58-C5969D2E9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483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AE4806D-B8F9-4679-A68A-9BD21C01A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7175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3">
            <a:extLst>
              <a:ext uri="{FF2B5EF4-FFF2-40B4-BE49-F238E27FC236}">
                <a16:creationId xmlns:a16="http://schemas.microsoft.com/office/drawing/2014/main" id="{52FB45E9-914E-4471-AC87-E475CD5176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58764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18" name="Rectangle 25">
            <a:extLst>
              <a:ext uri="{FF2B5EF4-FFF2-40B4-BE49-F238E27FC236}">
                <a16:creationId xmlns:a16="http://schemas.microsoft.com/office/drawing/2014/main" id="{C310626D-5743-49D4-8F7D-88C4F8F05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0730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19" name="Isosceles Triangle 81">
            <a:extLst>
              <a:ext uri="{FF2B5EF4-FFF2-40B4-BE49-F238E27FC236}">
                <a16:creationId xmlns:a16="http://schemas.microsoft.com/office/drawing/2014/main" id="{3C195FC1-B568-4C72-9902-34CB35DDD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9621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20" name="Rectangle 27">
            <a:extLst>
              <a:ext uri="{FF2B5EF4-FFF2-40B4-BE49-F238E27FC236}">
                <a16:creationId xmlns:a16="http://schemas.microsoft.com/office/drawing/2014/main" id="{EF2BDF77-362C-43F0-8CBB-A969EC2AE0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1788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86" name="Isosceles Triangle 85">
            <a:extLst>
              <a:ext uri="{FF2B5EF4-FFF2-40B4-BE49-F238E27FC236}">
                <a16:creationId xmlns:a16="http://schemas.microsoft.com/office/drawing/2014/main" id="{4BE96B01-3929-432D-B8C2-ADBCB74C2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48954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A6FCDE6-CDE2-4C51-B18E-A95CFB679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6287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EBA266-7557-98C6-EC6D-D2BFF8C0971D}"/>
              </a:ext>
            </a:extLst>
          </p:cNvPr>
          <p:cNvSpPr txBox="1"/>
          <p:nvPr/>
        </p:nvSpPr>
        <p:spPr>
          <a:xfrm>
            <a:off x="4419136" y="1020871"/>
            <a:ext cx="6960759" cy="28496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60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Locatie</a:t>
            </a:r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D2E8756-2465-473A-BA2A-2DB1D6224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062562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444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6E24E9-AD9D-55F3-F2C4-97B8BDCD3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4" name="Content Placeholder 4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E95249C0-1838-09F4-16E1-A82E9E9CAE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3663" b="14222"/>
          <a:stretch>
            <a:fillRect/>
          </a:stretch>
        </p:blipFill>
        <p:spPr>
          <a:xfrm>
            <a:off x="1" y="0"/>
            <a:ext cx="12192000" cy="685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88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buitenshuis, water, meer, grond&#10;&#10;Door AI gegenereerde inhoud is mogelijk onjuist.">
            <a:extLst>
              <a:ext uri="{FF2B5EF4-FFF2-40B4-BE49-F238E27FC236}">
                <a16:creationId xmlns:a16="http://schemas.microsoft.com/office/drawing/2014/main" id="{4824E7CD-560B-8EC1-6E57-EE70CB576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29" r="2" b="2"/>
          <a:stretch>
            <a:fillRect/>
          </a:stretch>
        </p:blipFill>
        <p:spPr>
          <a:xfrm>
            <a:off x="20" y="3"/>
            <a:ext cx="6050260" cy="4091667"/>
          </a:xfrm>
          <a:prstGeom prst="rect">
            <a:avLst/>
          </a:prstGeom>
        </p:spPr>
      </p:pic>
      <p:pic>
        <p:nvPicPr>
          <p:cNvPr id="5" name="Tijdelijke aanduiding voor inhoud 4" descr="Afbeelding met water, meer, buitenshuis, vaarweg&#10;&#10;Door AI gegenereerde inhoud is mogelijk onjuist.">
            <a:extLst>
              <a:ext uri="{FF2B5EF4-FFF2-40B4-BE49-F238E27FC236}">
                <a16:creationId xmlns:a16="http://schemas.microsoft.com/office/drawing/2014/main" id="{60E992EA-9B2F-2A58-E761-8076E3BD8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9816"/>
          <a:stretch>
            <a:fillRect/>
          </a:stretch>
        </p:blipFill>
        <p:spPr>
          <a:xfrm>
            <a:off x="6141719" y="-683"/>
            <a:ext cx="6050280" cy="409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607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CE6E43D-FC44-4F15-89C6-7C08E9BDC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1115E6-3640-4179-A252-686A27B75B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68D2ABE-CDFA-4BEB-AF45-E43862265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A108FB8B-558B-4F9E-970F-72D2EE57F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481E92F1-5BD2-4422-B875-90578CEAA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9D9630F3-9488-4F58-9098-F6B8552BD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A82B105D-E7A6-4F3A-AFDA-B9133F6BD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592262AB-546B-41A7-99DE-EC034F072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D878A1F7-F404-41A0-BD7C-9739499BD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0076BF32-29FF-4C3A-B1AF-91A28EFDA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0A4C29F3-B3A2-40B9-8670-ADA39B0C42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</p:grpSp>
      <p:pic>
        <p:nvPicPr>
          <p:cNvPr id="4" name="Tijdelijke aanduiding voor inhoud 4" descr="Afbeelding met buitenshuis, gebouw, stad, straat&#10;&#10;Door AI gegenereerde inhoud is mogelijk onjuist.">
            <a:extLst>
              <a:ext uri="{FF2B5EF4-FFF2-40B4-BE49-F238E27FC236}">
                <a16:creationId xmlns:a16="http://schemas.microsoft.com/office/drawing/2014/main" id="{D59EBE5C-FE5F-0E25-C499-7730C83DE5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655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849E2-0B8C-C26B-5D1E-73BCB8250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</a:t>
            </a:r>
            <a:r>
              <a:rPr lang="en-US" dirty="0" err="1"/>
              <a:t>en</a:t>
            </a:r>
            <a:r>
              <a:rPr lang="en-US" dirty="0"/>
              <a:t> Userstories</a:t>
            </a:r>
            <a:endParaRPr lang="en-NL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9E7F42E-2EE9-7BB1-4A84-69B62E252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90545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C2364-5641-CF98-3D3E-BDABD2166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0" y="609600"/>
            <a:ext cx="2930518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 err="1"/>
              <a:t>Onderzoek</a:t>
            </a:r>
            <a:r>
              <a:rPr lang="en-US" sz="2800" dirty="0"/>
              <a:t> </a:t>
            </a:r>
            <a:r>
              <a:rPr lang="en-US" sz="2800" dirty="0" err="1"/>
              <a:t>naar</a:t>
            </a:r>
            <a:r>
              <a:rPr lang="en-US" sz="2800" dirty="0"/>
              <a:t> microcontroller</a:t>
            </a:r>
            <a:endParaRPr lang="nl-NL" sz="2800" dirty="0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00A8B24A-1647-AF63-CF5B-B46E0E5B9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6980" y="3758812"/>
            <a:ext cx="1165432" cy="1165432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09C14804-DA71-1B66-4304-D7DE3B9D68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10" r="-1" b="14247"/>
          <a:stretch>
            <a:fillRect/>
          </a:stretch>
        </p:blipFill>
        <p:spPr>
          <a:xfrm>
            <a:off x="2208932" y="2814423"/>
            <a:ext cx="1221528" cy="90444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AAF283D3-6AC9-3ABB-7B9D-BD20619532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"/>
          <a:stretch>
            <a:fillRect/>
          </a:stretch>
        </p:blipFill>
        <p:spPr>
          <a:xfrm>
            <a:off x="1991976" y="4766030"/>
            <a:ext cx="1607337" cy="1183412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C0D1F4-65FA-1835-39D4-87A7E79F0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2290071"/>
              </p:ext>
            </p:extLst>
          </p:nvPr>
        </p:nvGraphicFramePr>
        <p:xfrm>
          <a:off x="3615403" y="1814840"/>
          <a:ext cx="6175421" cy="42875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418">
                  <a:extLst>
                    <a:ext uri="{9D8B030D-6E8A-4147-A177-3AD203B41FA5}">
                      <a16:colId xmlns:a16="http://schemas.microsoft.com/office/drawing/2014/main" val="2627733194"/>
                    </a:ext>
                  </a:extLst>
                </a:gridCol>
                <a:gridCol w="844598">
                  <a:extLst>
                    <a:ext uri="{9D8B030D-6E8A-4147-A177-3AD203B41FA5}">
                      <a16:colId xmlns:a16="http://schemas.microsoft.com/office/drawing/2014/main" val="2150787738"/>
                    </a:ext>
                  </a:extLst>
                </a:gridCol>
                <a:gridCol w="816678">
                  <a:extLst>
                    <a:ext uri="{9D8B030D-6E8A-4147-A177-3AD203B41FA5}">
                      <a16:colId xmlns:a16="http://schemas.microsoft.com/office/drawing/2014/main" val="468366130"/>
                    </a:ext>
                  </a:extLst>
                </a:gridCol>
                <a:gridCol w="848118">
                  <a:extLst>
                    <a:ext uri="{9D8B030D-6E8A-4147-A177-3AD203B41FA5}">
                      <a16:colId xmlns:a16="http://schemas.microsoft.com/office/drawing/2014/main" val="1397205655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1123180273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3303097515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4025165270"/>
                    </a:ext>
                  </a:extLst>
                </a:gridCol>
              </a:tblGrid>
              <a:tr h="971986">
                <a:tc>
                  <a:txBody>
                    <a:bodyPr/>
                    <a:lstStyle/>
                    <a:p>
                      <a:r>
                        <a:rPr lang="en-US" dirty="0"/>
                        <a:t>Naam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Processor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Internet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Snelheid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Energieverbruik</a:t>
                      </a:r>
                      <a:endParaRPr lang="en-NL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GPIO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Prijs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2947197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Arduino uno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400" dirty="0"/>
                        <a:t>8</a:t>
                      </a:r>
                      <a:r>
                        <a:rPr lang="en-US" sz="1400" dirty="0"/>
                        <a:t>bit</a:t>
                      </a:r>
                    </a:p>
                    <a:p>
                      <a:r>
                        <a:rPr lang="en-US" sz="1400" dirty="0"/>
                        <a:t>16MHz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r>
                        <a:rPr lang="en-US" sz="1400" dirty="0"/>
                        <a:t>Geen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 err="1"/>
                        <a:t>Laag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45-50mA</a:t>
                      </a:r>
                    </a:p>
                    <a:p>
                      <a:r>
                        <a:rPr lang="en-US" sz="1400" dirty="0"/>
                        <a:t>tot</a:t>
                      </a:r>
                    </a:p>
                    <a:p>
                      <a:r>
                        <a:rPr lang="en-US" sz="1400" dirty="0"/>
                        <a:t>200mA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14 </a:t>
                      </a:r>
                      <a:r>
                        <a:rPr lang="en-US" sz="1400" dirty="0" err="1"/>
                        <a:t>digitaal</a:t>
                      </a:r>
                      <a:r>
                        <a:rPr lang="en-US" sz="1400" dirty="0"/>
                        <a:t>, 6 </a:t>
                      </a:r>
                      <a:r>
                        <a:rPr lang="en-US" sz="1400" dirty="0" err="1"/>
                        <a:t>analoog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SPI, I2C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UART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20-30€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0671987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ESP-32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32bit</a:t>
                      </a:r>
                    </a:p>
                    <a:p>
                      <a:r>
                        <a:rPr lang="uk-UA" sz="1400" dirty="0"/>
                        <a:t>2</a:t>
                      </a:r>
                      <a:r>
                        <a:rPr lang="en-US" sz="1400" dirty="0"/>
                        <a:t> cores</a:t>
                      </a:r>
                    </a:p>
                    <a:p>
                      <a:r>
                        <a:rPr lang="en-US" sz="1400" dirty="0"/>
                        <a:t>240MHz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Wi-Fi</a:t>
                      </a:r>
                    </a:p>
                    <a:p>
                      <a:r>
                        <a:rPr lang="en-US" sz="1400" dirty="0" err="1"/>
                        <a:t>en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Bluetooth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 err="1"/>
                        <a:t>Gemiddeld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50-240mA+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1400" dirty="0"/>
                        <a:t>30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SPI,I2C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DAC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3-10€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38572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Raspberry PI 4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64bit</a:t>
                      </a:r>
                    </a:p>
                    <a:p>
                      <a:r>
                        <a:rPr lang="en-US" sz="1400" dirty="0"/>
                        <a:t>4 cores</a:t>
                      </a:r>
                    </a:p>
                    <a:p>
                      <a:r>
                        <a:rPr lang="en-US" sz="1400" dirty="0"/>
                        <a:t>1.5GHz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Wi-Fi</a:t>
                      </a:r>
                    </a:p>
                    <a:p>
                      <a:r>
                        <a:rPr lang="en-US" sz="1400" dirty="0" err="1"/>
                        <a:t>en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Bluetooth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/>
                        <a:t>Hoog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3W-5W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40</a:t>
                      </a:r>
                    </a:p>
                    <a:p>
                      <a:r>
                        <a:rPr lang="en-US" sz="1400" dirty="0"/>
                        <a:t>I2C, SPI, UART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PWM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50-70€</a:t>
                      </a:r>
                      <a:endParaRPr lang="en-NL" sz="1400" dirty="0"/>
                    </a:p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149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200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0E4B-49EB-3E4F-BB8E-0B3270696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009" y="134112"/>
            <a:ext cx="8596668" cy="1320800"/>
          </a:xfrm>
        </p:spPr>
        <p:txBody>
          <a:bodyPr/>
          <a:lstStyle/>
          <a:p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onderzoek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AD71FDA-42D7-2106-BCCB-ACDBABF2D8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1396746"/>
              </p:ext>
            </p:extLst>
          </p:nvPr>
        </p:nvGraphicFramePr>
        <p:xfrm>
          <a:off x="1148485" y="2713939"/>
          <a:ext cx="9341511" cy="4144061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490259">
                  <a:extLst>
                    <a:ext uri="{9D8B030D-6E8A-4147-A177-3AD203B41FA5}">
                      <a16:colId xmlns:a16="http://schemas.microsoft.com/office/drawing/2014/main" val="1009998293"/>
                    </a:ext>
                  </a:extLst>
                </a:gridCol>
                <a:gridCol w="1579189">
                  <a:extLst>
                    <a:ext uri="{9D8B030D-6E8A-4147-A177-3AD203B41FA5}">
                      <a16:colId xmlns:a16="http://schemas.microsoft.com/office/drawing/2014/main" val="2754714101"/>
                    </a:ext>
                  </a:extLst>
                </a:gridCol>
                <a:gridCol w="1579189">
                  <a:extLst>
                    <a:ext uri="{9D8B030D-6E8A-4147-A177-3AD203B41FA5}">
                      <a16:colId xmlns:a16="http://schemas.microsoft.com/office/drawing/2014/main" val="863153412"/>
                    </a:ext>
                  </a:extLst>
                </a:gridCol>
                <a:gridCol w="1816068">
                  <a:extLst>
                    <a:ext uri="{9D8B030D-6E8A-4147-A177-3AD203B41FA5}">
                      <a16:colId xmlns:a16="http://schemas.microsoft.com/office/drawing/2014/main" val="1694052627"/>
                    </a:ext>
                  </a:extLst>
                </a:gridCol>
                <a:gridCol w="1876806">
                  <a:extLst>
                    <a:ext uri="{9D8B030D-6E8A-4147-A177-3AD203B41FA5}">
                      <a16:colId xmlns:a16="http://schemas.microsoft.com/office/drawing/2014/main" val="4262543509"/>
                    </a:ext>
                  </a:extLst>
                </a:gridCol>
              </a:tblGrid>
              <a:tr h="4918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 dirty="0">
                          <a:effectLst/>
                        </a:rPr>
                        <a:t> </a:t>
                      </a:r>
                      <a:endParaRPr lang="en-NL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100" kern="100" dirty="0">
                          <a:effectLst/>
                        </a:rPr>
                        <a:t>Anemometer YX-DFS2</a:t>
                      </a:r>
                      <a:endParaRPr lang="en-NL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1610"/>
                        </a:spcAft>
                        <a:buNone/>
                      </a:pPr>
                      <a:r>
                        <a:rPr lang="nl-NL" sz="1100" kern="100" dirty="0">
                          <a:effectLst/>
                        </a:rPr>
                        <a:t>Anemometer </a:t>
                      </a:r>
                      <a:endParaRPr lang="en-NL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100" kern="100">
                          <a:effectLst/>
                        </a:rPr>
                        <a:t>RS485 Windrichting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100" kern="100" dirty="0" err="1">
                          <a:effectLst/>
                        </a:rPr>
                        <a:t>SenseCAP</a:t>
                      </a:r>
                      <a:r>
                        <a:rPr lang="nl-NL" sz="1100" kern="100" dirty="0">
                          <a:effectLst/>
                        </a:rPr>
                        <a:t> S200</a:t>
                      </a:r>
                      <a:endParaRPr lang="en-NL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5161957"/>
                  </a:ext>
                </a:extLst>
              </a:tr>
              <a:tr h="3280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Prijs: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49.50€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69.95€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49.50€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350€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6253717"/>
                  </a:ext>
                </a:extLst>
              </a:tr>
              <a:tr h="3280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Input DC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12-24V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9-24V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7-24V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12-24V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83815970"/>
                  </a:ext>
                </a:extLst>
              </a:tr>
              <a:tr h="3280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output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0-5V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0.4-2V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100" kern="100">
                          <a:effectLst/>
                        </a:rPr>
                        <a:t>Interface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LoRa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47350016"/>
                  </a:ext>
                </a:extLst>
              </a:tr>
              <a:tr h="3280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windrichtingen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nvt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nvt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16/0-360°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0 ~ 360 °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5839084"/>
                  </a:ext>
                </a:extLst>
              </a:tr>
              <a:tr h="67066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 dirty="0">
                          <a:effectLst/>
                        </a:rPr>
                        <a:t>Max winsnelheid</a:t>
                      </a:r>
                      <a:endParaRPr lang="en-NL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30m/s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50m/s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nvt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60m/s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58880677"/>
                  </a:ext>
                </a:extLst>
              </a:tr>
              <a:tr h="3280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opstartsnelheid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0.5m/s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0.2m/s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0.3m/s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0m/s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90537122"/>
                  </a:ext>
                </a:extLst>
              </a:tr>
              <a:tr h="101328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Te gebruiken met microcontroller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ja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ja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ja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nee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3055134"/>
                  </a:ext>
                </a:extLst>
              </a:tr>
              <a:tr h="3280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waterdicht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ja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ja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>
                          <a:effectLst/>
                        </a:rPr>
                        <a:t>ja</a:t>
                      </a:r>
                      <a:endParaRPr lang="en-NL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500" kern="100" dirty="0">
                          <a:effectLst/>
                        </a:rPr>
                        <a:t>ja</a:t>
                      </a:r>
                      <a:endParaRPr lang="en-NL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88034590"/>
                  </a:ext>
                </a:extLst>
              </a:tr>
            </a:tbl>
          </a:graphicData>
        </a:graphic>
      </p:graphicFrame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2D34B1E3-DB95-7053-91F8-E96E4D966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41" r="-6" b="1117"/>
          <a:stretch>
            <a:fillRect/>
          </a:stretch>
        </p:blipFill>
        <p:spPr>
          <a:xfrm>
            <a:off x="3714244" y="1470748"/>
            <a:ext cx="1440198" cy="1191578"/>
          </a:xfrm>
          <a:prstGeom prst="rect">
            <a:avLst/>
          </a:prstGeom>
        </p:spPr>
      </p:pic>
      <p:pic>
        <p:nvPicPr>
          <p:cNvPr id="6" name="drawing" descr="Anemometer / windsnelheidsmeter">
            <a:extLst>
              <a:ext uri="{FF2B5EF4-FFF2-40B4-BE49-F238E27FC236}">
                <a16:creationId xmlns:a16="http://schemas.microsoft.com/office/drawing/2014/main" id="{34CAF270-A61A-81EB-C6B2-6447D7F740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918" y="1273741"/>
            <a:ext cx="1440198" cy="1440198"/>
          </a:xfrm>
          <a:prstGeom prst="rect">
            <a:avLst/>
          </a:prstGeom>
        </p:spPr>
      </p:pic>
      <p:pic>
        <p:nvPicPr>
          <p:cNvPr id="7" name="Afbeelding 3" descr="Afbeelding met gereedschap, Huishoudelijke ijzerwaren, overdekt, zwart-wit&#10;&#10;Door AI gegenereerde inhoud is mogelijk onjuist.">
            <a:extLst>
              <a:ext uri="{FF2B5EF4-FFF2-40B4-BE49-F238E27FC236}">
                <a16:creationId xmlns:a16="http://schemas.microsoft.com/office/drawing/2014/main" id="{8119C939-0554-70CE-36DB-11C69AB1D6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3" r="4737" b="-4"/>
          <a:stretch>
            <a:fillRect/>
          </a:stretch>
        </p:blipFill>
        <p:spPr>
          <a:xfrm>
            <a:off x="6813795" y="1230679"/>
            <a:ext cx="1730359" cy="1431647"/>
          </a:xfrm>
          <a:prstGeom prst="rect">
            <a:avLst/>
          </a:prstGeom>
        </p:spPr>
      </p:pic>
      <p:pic>
        <p:nvPicPr>
          <p:cNvPr id="8" name="drawing">
            <a:extLst>
              <a:ext uri="{FF2B5EF4-FFF2-40B4-BE49-F238E27FC236}">
                <a16:creationId xmlns:a16="http://schemas.microsoft.com/office/drawing/2014/main" id="{2D615622-966D-F464-FA4A-F9DC2273E1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97833" y="1286102"/>
            <a:ext cx="1760392" cy="132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264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EC6B5-888F-52F1-45A9-C29145F7B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Onderzoek</a:t>
            </a:r>
            <a:r>
              <a:rPr lang="en-US" dirty="0"/>
              <a:t> van </a:t>
            </a:r>
            <a:r>
              <a:rPr lang="en-US" dirty="0" err="1"/>
              <a:t>behuizing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44E60-904D-B8E0-7647-8827C85D3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09672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A0CE4-6455-76B7-4D1E-E48C16499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en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7FB581-7615-91EB-1DB8-B6DB7CB20A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8877" y="1270000"/>
            <a:ext cx="9575597" cy="5679582"/>
          </a:xfrm>
        </p:spPr>
      </p:pic>
    </p:spTree>
    <p:extLst>
      <p:ext uri="{BB962C8B-B14F-4D97-AF65-F5344CB8AC3E}">
        <p14:creationId xmlns:p14="http://schemas.microsoft.com/office/powerpoint/2010/main" val="618870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4ABAA-C6B6-79C4-6422-5A03C7C3A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Flowchart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71FF5-C1B8-C5CB-D6CB-277E7D7D2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2705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C4139-2347-3892-2990-912A0082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Testrapport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EEC29-4A2F-E105-1FB0-97D7952DE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639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A30E6-AE39-C92B-CDF6-4B3224F6E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Windsnelheid</a:t>
            </a:r>
            <a:r>
              <a:rPr lang="en-US" dirty="0"/>
              <a:t> sensor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9B333-1201-CA76-EE25-1C2EA8B48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48364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9B535-B432-F806-73D4-329B33ED5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Windrichting</a:t>
            </a:r>
            <a:r>
              <a:rPr lang="en-US" dirty="0"/>
              <a:t> sensor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E0CC7-4DAC-5B7A-E4B7-2901F26A6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52928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A0EB2-2DC4-C694-3683-5F4C78C4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Obstakels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2A8BB-A882-6474-87DE-AD2BCBBAA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983012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274</TotalTime>
  <Words>205</Words>
  <Application>Microsoft Office PowerPoint</Application>
  <PresentationFormat>Breedbeeld</PresentationFormat>
  <Paragraphs>120</Paragraphs>
  <Slides>18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18</vt:i4>
      </vt:variant>
    </vt:vector>
  </HeadingPairs>
  <TitlesOfParts>
    <vt:vector size="23" baseType="lpstr">
      <vt:lpstr>Aptos</vt:lpstr>
      <vt:lpstr>Arial</vt:lpstr>
      <vt:lpstr>Trebuchet MS</vt:lpstr>
      <vt:lpstr>Wingdings 3</vt:lpstr>
      <vt:lpstr>Facet</vt:lpstr>
      <vt:lpstr>Plastic vanger</vt:lpstr>
      <vt:lpstr>Inleiding </vt:lpstr>
      <vt:lpstr>Product owner (PO)</vt:lpstr>
      <vt:lpstr>Probleem omschrijving</vt:lpstr>
      <vt:lpstr>PowerPoint-presentatie</vt:lpstr>
      <vt:lpstr>PowerPoint-presentatie</vt:lpstr>
      <vt:lpstr>PowerPoint-presentatie</vt:lpstr>
      <vt:lpstr>PowerPoint-presentatie</vt:lpstr>
      <vt:lpstr>Requirements en Userstories</vt:lpstr>
      <vt:lpstr>Onderzoek naar microcontroller</vt:lpstr>
      <vt:lpstr>Sensoren onderzoek</vt:lpstr>
      <vt:lpstr>Onderzoek van behuizing</vt:lpstr>
      <vt:lpstr>Architectuur ontwerp</vt:lpstr>
      <vt:lpstr>Flowchart</vt:lpstr>
      <vt:lpstr>Testrapport</vt:lpstr>
      <vt:lpstr>Windsnelheid sensor</vt:lpstr>
      <vt:lpstr>Windrichting sensor</vt:lpstr>
      <vt:lpstr>Obstakels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5</cp:revision>
  <dcterms:created xsi:type="dcterms:W3CDTF">2025-10-31T11:59:23Z</dcterms:created>
  <dcterms:modified xsi:type="dcterms:W3CDTF">2025-11-11T12:18:38Z</dcterms:modified>
</cp:coreProperties>
</file>