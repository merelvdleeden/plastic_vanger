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6" r:id="rId9"/>
    <p:sldId id="267" r:id="rId10"/>
    <p:sldId id="270" r:id="rId11"/>
    <p:sldId id="271" r:id="rId12"/>
    <p:sldId id="272" r:id="rId13"/>
    <p:sldId id="265" r:id="rId14"/>
    <p:sldId id="268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6310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0395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0256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61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5998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2506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9449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293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1498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3510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914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7793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erte 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55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ar of onwa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00137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8140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6648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C7D4-2A85-430B-9211-96D8094A2B97}" type="datetimeFigureOut">
              <a:rPr lang="nl-NL" smtClean="0"/>
              <a:t>10-11-2025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76FB3F0-79A7-4EA4-A545-C0CD60C10EC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43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D27748-D2AC-A60F-C0CA-917578BBC1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Plastic </a:t>
            </a:r>
            <a:r>
              <a:rPr lang="en-US" dirty="0" err="1"/>
              <a:t>vanger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2F67EAB-282E-FA64-BF6C-693471B13F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en-US" dirty="0"/>
              <a:t>Merel van der Leeden</a:t>
            </a:r>
          </a:p>
          <a:p>
            <a:pPr algn="l"/>
            <a:r>
              <a:rPr lang="en-US" dirty="0"/>
              <a:t>Aron </a:t>
            </a:r>
            <a:r>
              <a:rPr lang="en-US" dirty="0" err="1"/>
              <a:t>Vleij</a:t>
            </a:r>
            <a:endParaRPr lang="en-US" dirty="0"/>
          </a:p>
          <a:p>
            <a:pPr algn="l"/>
            <a:r>
              <a:rPr lang="en-US" dirty="0"/>
              <a:t>Pavlo </a:t>
            </a:r>
            <a:r>
              <a:rPr lang="en-US" dirty="0" err="1"/>
              <a:t>Petraschkevych</a:t>
            </a:r>
            <a:endParaRPr lang="en-US" dirty="0"/>
          </a:p>
          <a:p>
            <a:pPr algn="l"/>
            <a:r>
              <a:rPr lang="en-US" dirty="0"/>
              <a:t>Jullian Lima Spencer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98796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0F3997-2171-5912-8605-3A9E922F8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Inleiding</a:t>
            </a:r>
            <a:r>
              <a:rPr lang="en-US" dirty="0"/>
              <a:t> 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0DE8A3B-778C-FD37-73F7-C3182E56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Product owner</a:t>
            </a:r>
          </a:p>
          <a:p>
            <a:r>
              <a:rPr lang="en-US" dirty="0" err="1"/>
              <a:t>Probleem</a:t>
            </a:r>
            <a:r>
              <a:rPr lang="en-US" dirty="0"/>
              <a:t> </a:t>
            </a:r>
            <a:r>
              <a:rPr lang="en-US" dirty="0" err="1"/>
              <a:t>omschrijving</a:t>
            </a:r>
            <a:endParaRPr lang="en-US" dirty="0"/>
          </a:p>
          <a:p>
            <a:r>
              <a:rPr lang="en-US" dirty="0" err="1"/>
              <a:t>Locatie</a:t>
            </a:r>
            <a:endParaRPr lang="en-US" dirty="0"/>
          </a:p>
          <a:p>
            <a:r>
              <a:rPr lang="en-US" dirty="0"/>
              <a:t>Requirements</a:t>
            </a:r>
          </a:p>
          <a:p>
            <a:r>
              <a:rPr lang="en-US" dirty="0" err="1"/>
              <a:t>Userstories</a:t>
            </a:r>
            <a:endParaRPr lang="en-US" dirty="0"/>
          </a:p>
          <a:p>
            <a:r>
              <a:rPr lang="en-US" dirty="0" err="1"/>
              <a:t>Onderzoeken</a:t>
            </a:r>
            <a:r>
              <a:rPr lang="en-US" dirty="0"/>
              <a:t> </a:t>
            </a:r>
          </a:p>
          <a:p>
            <a:r>
              <a:rPr lang="en-US" dirty="0" err="1"/>
              <a:t>Architectuur</a:t>
            </a:r>
            <a:r>
              <a:rPr lang="en-US" dirty="0"/>
              <a:t> </a:t>
            </a:r>
            <a:r>
              <a:rPr lang="en-US" dirty="0" err="1"/>
              <a:t>ontwerp</a:t>
            </a:r>
            <a:endParaRPr lang="en-US" dirty="0"/>
          </a:p>
          <a:p>
            <a:r>
              <a:rPr lang="en-US" dirty="0"/>
              <a:t>Flowchart</a:t>
            </a:r>
          </a:p>
          <a:p>
            <a:r>
              <a:rPr lang="en-US" dirty="0" err="1"/>
              <a:t>Testrapport</a:t>
            </a:r>
            <a:endParaRPr lang="en-US" dirty="0"/>
          </a:p>
          <a:p>
            <a:r>
              <a:rPr lang="en-US" dirty="0" err="1"/>
              <a:t>Obstakels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811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nl-NL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45819775-F8B6-90D8-31D6-7E230589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199" y="4571999"/>
            <a:ext cx="7673801" cy="10876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Product owner (PO)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6DB08DC-9043-AE5F-54EE-7431E23A6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4795" y="5659655"/>
            <a:ext cx="7599205" cy="6118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Clean -&gt; Prevent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FC26F25-9F74-30B5-FAA2-A56FF9952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2040660"/>
            <a:ext cx="7625162" cy="221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5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A8B12-3162-EF51-2E8A-10F569298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Probleem</a:t>
            </a:r>
            <a:r>
              <a:rPr lang="en-US" dirty="0"/>
              <a:t> </a:t>
            </a:r>
            <a:r>
              <a:rPr lang="en-US" dirty="0" err="1"/>
              <a:t>omschrijving</a:t>
            </a:r>
            <a:endParaRPr lang="nl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F7A8A6-C786-8616-5113-292F14951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67807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CE6E43D-FC44-4F15-89C6-7C08E9BDC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21115E6-3640-4179-A252-686A27B75B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68D2ABE-CDFA-4BEB-AF45-E43862265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A108FB8B-558B-4F9E-970F-72D2EE57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481E92F1-5BD2-4422-B875-90578CEAA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9D9630F3-9488-4F58-9098-F6B8552BD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A82B105D-E7A6-4F3A-AFDA-B9133F6BD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92262AB-546B-41A7-99DE-EC034F072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D878A1F7-F404-41A0-BD7C-9739499BD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076BF32-29FF-4C3A-B1AF-91A28EFD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A4C29F3-B3A2-40B9-8670-ADA39B0C4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</p:grpSp>
      <p:pic>
        <p:nvPicPr>
          <p:cNvPr id="5" name="Content Placeholder 4" descr="A graph on a piece of paper&#10;&#10;AI-generated content may be incorrect.">
            <a:extLst>
              <a:ext uri="{FF2B5EF4-FFF2-40B4-BE49-F238E27FC236}">
                <a16:creationId xmlns:a16="http://schemas.microsoft.com/office/drawing/2014/main" id="{4B2658E6-2642-2CD2-1AC2-A1DCF4F6C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663" b="14222"/>
          <a:stretch>
            <a:fillRect/>
          </a:stretch>
        </p:blipFill>
        <p:spPr>
          <a:xfrm>
            <a:off x="1165685" y="1409117"/>
            <a:ext cx="9860629" cy="55466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EBA266-7557-98C6-EC6D-D2BFF8C0971D}"/>
              </a:ext>
            </a:extLst>
          </p:cNvPr>
          <p:cNvSpPr txBox="1"/>
          <p:nvPr/>
        </p:nvSpPr>
        <p:spPr>
          <a:xfrm>
            <a:off x="272227" y="342027"/>
            <a:ext cx="890607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 err="1">
                <a:solidFill>
                  <a:schemeClr val="accent1"/>
                </a:solidFill>
              </a:rPr>
              <a:t>Locatie</a:t>
            </a:r>
            <a:endParaRPr lang="en-NL" sz="3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444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Afbeelding met buitenshuis, water, meer, grond&#10;&#10;Door AI gegenereerde inhoud is mogelijk onjuist.">
            <a:extLst>
              <a:ext uri="{FF2B5EF4-FFF2-40B4-BE49-F238E27FC236}">
                <a16:creationId xmlns:a16="http://schemas.microsoft.com/office/drawing/2014/main" id="{4824E7CD-560B-8EC1-6E57-EE70CB576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29" r="2" b="2"/>
          <a:stretch>
            <a:fillRect/>
          </a:stretch>
        </p:blipFill>
        <p:spPr>
          <a:xfrm>
            <a:off x="20" y="3"/>
            <a:ext cx="6050260" cy="4091667"/>
          </a:xfrm>
          <a:prstGeom prst="rect">
            <a:avLst/>
          </a:prstGeom>
        </p:spPr>
      </p:pic>
      <p:pic>
        <p:nvPicPr>
          <p:cNvPr id="5" name="Tijdelijke aanduiding voor inhoud 4" descr="Afbeelding met water, meer, buitenshuis, vaarweg&#10;&#10;Door AI gegenereerde inhoud is mogelijk onjuist.">
            <a:extLst>
              <a:ext uri="{FF2B5EF4-FFF2-40B4-BE49-F238E27FC236}">
                <a16:creationId xmlns:a16="http://schemas.microsoft.com/office/drawing/2014/main" id="{60E992EA-9B2F-2A58-E761-8076E3BD85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9816"/>
          <a:stretch>
            <a:fillRect/>
          </a:stretch>
        </p:blipFill>
        <p:spPr>
          <a:xfrm>
            <a:off x="6141719" y="-683"/>
            <a:ext cx="6050280" cy="40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607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CE6E43D-FC44-4F15-89C6-7C08E9BDC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1115E6-3640-4179-A252-686A27B75B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68D2ABE-CDFA-4BEB-AF45-E43862265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A108FB8B-558B-4F9E-970F-72D2EE57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481E92F1-5BD2-4422-B875-90578CEAA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9D9630F3-9488-4F58-9098-F6B8552BD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A82B105D-E7A6-4F3A-AFDA-B9133F6BD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92262AB-546B-41A7-99DE-EC034F072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D878A1F7-F404-41A0-BD7C-9739499BD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076BF32-29FF-4C3A-B1AF-91A28EFD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A4C29F3-B3A2-40B9-8670-ADA39B0C4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</p:grpSp>
      <p:pic>
        <p:nvPicPr>
          <p:cNvPr id="4" name="Tijdelijke aanduiding voor inhoud 4" descr="Afbeelding met buitenshuis, gebouw, stad, straat&#10;&#10;Door AI gegenereerde inhoud is mogelijk onjuist.">
            <a:extLst>
              <a:ext uri="{FF2B5EF4-FFF2-40B4-BE49-F238E27FC236}">
                <a16:creationId xmlns:a16="http://schemas.microsoft.com/office/drawing/2014/main" id="{D59EBE5C-FE5F-0E25-C499-7730C83DE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55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849E2-0B8C-C26B-5D1E-73BCB825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Requirments</a:t>
            </a:r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E7F42E-2EE9-7BB1-4A84-69B62E252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90545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D2BD3-4192-7438-12CA-E91936F8D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Userstories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71352-4E04-1DC3-F289-021B2E701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30957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1C2364-5641-CF98-3D3E-BDABD216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0" y="609600"/>
            <a:ext cx="2930518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 err="1"/>
              <a:t>Onderzoek</a:t>
            </a:r>
            <a:r>
              <a:rPr lang="en-US" sz="2800" dirty="0"/>
              <a:t> </a:t>
            </a:r>
            <a:r>
              <a:rPr lang="en-US" sz="2800" dirty="0" err="1"/>
              <a:t>naar</a:t>
            </a:r>
            <a:r>
              <a:rPr lang="en-US" sz="2800" dirty="0"/>
              <a:t> microcontroller</a:t>
            </a:r>
            <a:endParaRPr lang="nl-NL" sz="280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0A8B24A-1647-AF63-CF5B-B46E0E5B9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980" y="3758812"/>
            <a:ext cx="1165432" cy="1165432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09C14804-DA71-1B66-4304-D7DE3B9D6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10" r="-1" b="14247"/>
          <a:stretch>
            <a:fillRect/>
          </a:stretch>
        </p:blipFill>
        <p:spPr>
          <a:xfrm>
            <a:off x="2208932" y="2814423"/>
            <a:ext cx="1221528" cy="904447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AAF283D3-6AC9-3ABB-7B9D-BD2061953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6"/>
          <a:stretch>
            <a:fillRect/>
          </a:stretch>
        </p:blipFill>
        <p:spPr>
          <a:xfrm>
            <a:off x="1991976" y="4766030"/>
            <a:ext cx="1607337" cy="118341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C0D1F4-65FA-1835-39D4-87A7E79F0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290071"/>
              </p:ext>
            </p:extLst>
          </p:nvPr>
        </p:nvGraphicFramePr>
        <p:xfrm>
          <a:off x="3615403" y="1814840"/>
          <a:ext cx="6175421" cy="4287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418">
                  <a:extLst>
                    <a:ext uri="{9D8B030D-6E8A-4147-A177-3AD203B41FA5}">
                      <a16:colId xmlns:a16="http://schemas.microsoft.com/office/drawing/2014/main" val="2627733194"/>
                    </a:ext>
                  </a:extLst>
                </a:gridCol>
                <a:gridCol w="844598">
                  <a:extLst>
                    <a:ext uri="{9D8B030D-6E8A-4147-A177-3AD203B41FA5}">
                      <a16:colId xmlns:a16="http://schemas.microsoft.com/office/drawing/2014/main" val="2150787738"/>
                    </a:ext>
                  </a:extLst>
                </a:gridCol>
                <a:gridCol w="816678">
                  <a:extLst>
                    <a:ext uri="{9D8B030D-6E8A-4147-A177-3AD203B41FA5}">
                      <a16:colId xmlns:a16="http://schemas.microsoft.com/office/drawing/2014/main" val="468366130"/>
                    </a:ext>
                  </a:extLst>
                </a:gridCol>
                <a:gridCol w="848118">
                  <a:extLst>
                    <a:ext uri="{9D8B030D-6E8A-4147-A177-3AD203B41FA5}">
                      <a16:colId xmlns:a16="http://schemas.microsoft.com/office/drawing/2014/main" val="1397205655"/>
                    </a:ext>
                  </a:extLst>
                </a:gridCol>
                <a:gridCol w="882203">
                  <a:extLst>
                    <a:ext uri="{9D8B030D-6E8A-4147-A177-3AD203B41FA5}">
                      <a16:colId xmlns:a16="http://schemas.microsoft.com/office/drawing/2014/main" val="1123180273"/>
                    </a:ext>
                  </a:extLst>
                </a:gridCol>
                <a:gridCol w="882203">
                  <a:extLst>
                    <a:ext uri="{9D8B030D-6E8A-4147-A177-3AD203B41FA5}">
                      <a16:colId xmlns:a16="http://schemas.microsoft.com/office/drawing/2014/main" val="3303097515"/>
                    </a:ext>
                  </a:extLst>
                </a:gridCol>
                <a:gridCol w="882203">
                  <a:extLst>
                    <a:ext uri="{9D8B030D-6E8A-4147-A177-3AD203B41FA5}">
                      <a16:colId xmlns:a16="http://schemas.microsoft.com/office/drawing/2014/main" val="4025165270"/>
                    </a:ext>
                  </a:extLst>
                </a:gridCol>
              </a:tblGrid>
              <a:tr h="971986">
                <a:tc>
                  <a:txBody>
                    <a:bodyPr/>
                    <a:lstStyle/>
                    <a:p>
                      <a:r>
                        <a:rPr lang="en-US" dirty="0"/>
                        <a:t>Naam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Processor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Internet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Snelheid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Energieverbruik</a:t>
                      </a:r>
                      <a:endParaRPr lang="en-NL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GPIO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Prijs</a:t>
                      </a:r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947197"/>
                  </a:ext>
                </a:extLst>
              </a:tr>
              <a:tr h="971986">
                <a:tc>
                  <a:txBody>
                    <a:bodyPr/>
                    <a:lstStyle/>
                    <a:p>
                      <a:r>
                        <a:rPr lang="en-US" sz="1400" dirty="0"/>
                        <a:t>Arduino uno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8</a:t>
                      </a:r>
                      <a:r>
                        <a:rPr lang="en-US" sz="1400" dirty="0"/>
                        <a:t>bit</a:t>
                      </a:r>
                    </a:p>
                    <a:p>
                      <a:r>
                        <a:rPr lang="en-US" sz="1400" dirty="0"/>
                        <a:t>16MHz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Geen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sz="1400" dirty="0" err="1"/>
                        <a:t>Laag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45-50mA</a:t>
                      </a:r>
                    </a:p>
                    <a:p>
                      <a:r>
                        <a:rPr lang="en-US" sz="1400" dirty="0"/>
                        <a:t>tot</a:t>
                      </a:r>
                    </a:p>
                    <a:p>
                      <a:r>
                        <a:rPr lang="en-US" sz="1400" dirty="0"/>
                        <a:t>200mA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 </a:t>
                      </a:r>
                      <a:r>
                        <a:rPr lang="en-US" sz="1400" dirty="0" err="1"/>
                        <a:t>digitaal</a:t>
                      </a:r>
                      <a:r>
                        <a:rPr lang="en-US" sz="1400" dirty="0"/>
                        <a:t>, 6 </a:t>
                      </a:r>
                      <a:r>
                        <a:rPr lang="en-US" sz="1400" dirty="0" err="1"/>
                        <a:t>analoog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SPI, I2C </a:t>
                      </a:r>
                      <a:r>
                        <a:rPr lang="en-US" sz="1400" dirty="0" err="1"/>
                        <a:t>en</a:t>
                      </a:r>
                      <a:r>
                        <a:rPr lang="en-US" sz="1400" dirty="0"/>
                        <a:t> UART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20-30€</a:t>
                      </a:r>
                      <a:endParaRPr lang="en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671987"/>
                  </a:ext>
                </a:extLst>
              </a:tr>
              <a:tr h="971986">
                <a:tc>
                  <a:txBody>
                    <a:bodyPr/>
                    <a:lstStyle/>
                    <a:p>
                      <a:r>
                        <a:rPr lang="en-US" sz="1400" dirty="0"/>
                        <a:t>ESP-32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32bit</a:t>
                      </a:r>
                    </a:p>
                    <a:p>
                      <a:r>
                        <a:rPr lang="uk-UA" sz="1400" dirty="0"/>
                        <a:t>2</a:t>
                      </a:r>
                      <a:r>
                        <a:rPr lang="en-US" sz="1400" dirty="0"/>
                        <a:t> cores</a:t>
                      </a:r>
                    </a:p>
                    <a:p>
                      <a:r>
                        <a:rPr lang="en-US" sz="1400" dirty="0"/>
                        <a:t>240MHz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Wi-Fi</a:t>
                      </a:r>
                    </a:p>
                    <a:p>
                      <a:r>
                        <a:rPr lang="en-US" sz="1400" dirty="0" err="1"/>
                        <a:t>en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Bluetooth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sz="1400" dirty="0" err="1"/>
                        <a:t>Gemiddeld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50-240mA+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sz="1400" dirty="0"/>
                        <a:t>30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SPI,I2C </a:t>
                      </a:r>
                      <a:r>
                        <a:rPr lang="en-US" sz="1400" dirty="0" err="1"/>
                        <a:t>en</a:t>
                      </a:r>
                      <a:r>
                        <a:rPr lang="en-US" sz="1400" dirty="0"/>
                        <a:t> DAC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3-10€</a:t>
                      </a:r>
                      <a:endParaRPr lang="en-N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638572"/>
                  </a:ext>
                </a:extLst>
              </a:tr>
              <a:tr h="971986">
                <a:tc>
                  <a:txBody>
                    <a:bodyPr/>
                    <a:lstStyle/>
                    <a:p>
                      <a:r>
                        <a:rPr lang="en-US" sz="1400" dirty="0"/>
                        <a:t>Raspberry PI 4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64bit</a:t>
                      </a:r>
                    </a:p>
                    <a:p>
                      <a:r>
                        <a:rPr lang="en-US" sz="1400" dirty="0"/>
                        <a:t>4 cores</a:t>
                      </a:r>
                    </a:p>
                    <a:p>
                      <a:r>
                        <a:rPr lang="en-US" sz="1400" dirty="0"/>
                        <a:t>1.5GHz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Wi-Fi</a:t>
                      </a:r>
                    </a:p>
                    <a:p>
                      <a:r>
                        <a:rPr lang="en-US" sz="1400" dirty="0" err="1"/>
                        <a:t>en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Bluetooth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sz="1400" dirty="0"/>
                        <a:t>Hoog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3W-5W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</a:t>
                      </a:r>
                    </a:p>
                    <a:p>
                      <a:r>
                        <a:rPr lang="en-US" sz="1400" dirty="0"/>
                        <a:t>I2C, SPI, UART </a:t>
                      </a:r>
                      <a:r>
                        <a:rPr lang="en-US" sz="1400" dirty="0" err="1"/>
                        <a:t>en</a:t>
                      </a:r>
                      <a:r>
                        <a:rPr lang="en-US" sz="1400" dirty="0"/>
                        <a:t> PWM</a:t>
                      </a:r>
                      <a:endParaRPr lang="en-N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50-70€</a:t>
                      </a:r>
                      <a:endParaRPr lang="en-NL" sz="1400" dirty="0"/>
                    </a:p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914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200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0E4B-49EB-3E4F-BB8E-0B3270696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09" y="134112"/>
            <a:ext cx="8596668" cy="1320800"/>
          </a:xfrm>
        </p:spPr>
        <p:txBody>
          <a:bodyPr/>
          <a:lstStyle/>
          <a:p>
            <a:r>
              <a:rPr lang="en-US" dirty="0" err="1"/>
              <a:t>Sensoren</a:t>
            </a:r>
            <a:r>
              <a:rPr lang="en-US" dirty="0"/>
              <a:t> </a:t>
            </a:r>
            <a:r>
              <a:rPr lang="en-US" dirty="0" err="1"/>
              <a:t>onderzoek</a:t>
            </a:r>
            <a:endParaRPr lang="en-N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D71FDA-42D7-2106-BCCB-ACDBABF2D8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1396746"/>
              </p:ext>
            </p:extLst>
          </p:nvPr>
        </p:nvGraphicFramePr>
        <p:xfrm>
          <a:off x="1148485" y="2713939"/>
          <a:ext cx="9341511" cy="414406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490259">
                  <a:extLst>
                    <a:ext uri="{9D8B030D-6E8A-4147-A177-3AD203B41FA5}">
                      <a16:colId xmlns:a16="http://schemas.microsoft.com/office/drawing/2014/main" val="1009998293"/>
                    </a:ext>
                  </a:extLst>
                </a:gridCol>
                <a:gridCol w="1579189">
                  <a:extLst>
                    <a:ext uri="{9D8B030D-6E8A-4147-A177-3AD203B41FA5}">
                      <a16:colId xmlns:a16="http://schemas.microsoft.com/office/drawing/2014/main" val="2754714101"/>
                    </a:ext>
                  </a:extLst>
                </a:gridCol>
                <a:gridCol w="1579189">
                  <a:extLst>
                    <a:ext uri="{9D8B030D-6E8A-4147-A177-3AD203B41FA5}">
                      <a16:colId xmlns:a16="http://schemas.microsoft.com/office/drawing/2014/main" val="863153412"/>
                    </a:ext>
                  </a:extLst>
                </a:gridCol>
                <a:gridCol w="1816068">
                  <a:extLst>
                    <a:ext uri="{9D8B030D-6E8A-4147-A177-3AD203B41FA5}">
                      <a16:colId xmlns:a16="http://schemas.microsoft.com/office/drawing/2014/main" val="1694052627"/>
                    </a:ext>
                  </a:extLst>
                </a:gridCol>
                <a:gridCol w="1876806">
                  <a:extLst>
                    <a:ext uri="{9D8B030D-6E8A-4147-A177-3AD203B41FA5}">
                      <a16:colId xmlns:a16="http://schemas.microsoft.com/office/drawing/2014/main" val="4262543509"/>
                    </a:ext>
                  </a:extLst>
                </a:gridCol>
              </a:tblGrid>
              <a:tr h="4918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 dirty="0">
                          <a:effectLst/>
                        </a:rPr>
                        <a:t> </a:t>
                      </a:r>
                      <a:endParaRPr lang="en-NL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100" kern="100" dirty="0">
                          <a:effectLst/>
                        </a:rPr>
                        <a:t>Anemometer YX-DFS2</a:t>
                      </a:r>
                      <a:endParaRPr lang="en-NL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610"/>
                        </a:spcAft>
                        <a:buNone/>
                      </a:pPr>
                      <a:r>
                        <a:rPr lang="nl-NL" sz="1100" kern="100" dirty="0">
                          <a:effectLst/>
                        </a:rPr>
                        <a:t>Anemometer </a:t>
                      </a:r>
                      <a:endParaRPr lang="en-NL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100" kern="100">
                          <a:effectLst/>
                        </a:rPr>
                        <a:t>RS485 Windrichting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100" kern="100" dirty="0" err="1">
                          <a:effectLst/>
                        </a:rPr>
                        <a:t>SenseCAP</a:t>
                      </a:r>
                      <a:r>
                        <a:rPr lang="nl-NL" sz="1100" kern="100" dirty="0">
                          <a:effectLst/>
                        </a:rPr>
                        <a:t> S200</a:t>
                      </a:r>
                      <a:endParaRPr lang="en-NL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5161957"/>
                  </a:ext>
                </a:extLst>
              </a:tr>
              <a:tr h="3280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Prijs: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49.50€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69.95€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49.50€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350€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6253717"/>
                  </a:ext>
                </a:extLst>
              </a:tr>
              <a:tr h="3280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Input DC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12-24V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9-24V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7-24V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12-24V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3815970"/>
                  </a:ext>
                </a:extLst>
              </a:tr>
              <a:tr h="3280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output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0-5V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0.4-2V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100" kern="100">
                          <a:effectLst/>
                        </a:rPr>
                        <a:t>Interface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LoRa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7350016"/>
                  </a:ext>
                </a:extLst>
              </a:tr>
              <a:tr h="3280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windrichtingen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nvt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nvt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16/0-360°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0 ~ 360 °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5839084"/>
                  </a:ext>
                </a:extLst>
              </a:tr>
              <a:tr h="670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 dirty="0">
                          <a:effectLst/>
                        </a:rPr>
                        <a:t>Max winsnelheid</a:t>
                      </a:r>
                      <a:endParaRPr lang="en-NL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30m/s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50m/s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nvt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60m/s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8880677"/>
                  </a:ext>
                </a:extLst>
              </a:tr>
              <a:tr h="3280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opstartsnelheid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0.5m/s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0.2m/s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0.3m/s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0m/s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0537122"/>
                  </a:ext>
                </a:extLst>
              </a:tr>
              <a:tr h="10132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Te gebruiken met microcontroller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ja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ja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ja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nee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3055134"/>
                  </a:ext>
                </a:extLst>
              </a:tr>
              <a:tr h="3280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waterdicht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ja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ja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>
                          <a:effectLst/>
                        </a:rPr>
                        <a:t>ja</a:t>
                      </a:r>
                      <a:endParaRPr lang="en-N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l-NL" sz="1500" kern="100" dirty="0">
                          <a:effectLst/>
                        </a:rPr>
                        <a:t>ja</a:t>
                      </a:r>
                      <a:endParaRPr lang="en-NL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8034590"/>
                  </a:ext>
                </a:extLst>
              </a:tr>
            </a:tbl>
          </a:graphicData>
        </a:graphic>
      </p:graphicFrame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2D34B1E3-DB95-7053-91F8-E96E4D966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41" r="-6" b="1117"/>
          <a:stretch>
            <a:fillRect/>
          </a:stretch>
        </p:blipFill>
        <p:spPr>
          <a:xfrm>
            <a:off x="3714244" y="1470748"/>
            <a:ext cx="1440198" cy="1191578"/>
          </a:xfrm>
          <a:prstGeom prst="rect">
            <a:avLst/>
          </a:prstGeom>
        </p:spPr>
      </p:pic>
      <p:pic>
        <p:nvPicPr>
          <p:cNvPr id="6" name="drawing" descr="Anemometer / windsnelheidsmeter">
            <a:extLst>
              <a:ext uri="{FF2B5EF4-FFF2-40B4-BE49-F238E27FC236}">
                <a16:creationId xmlns:a16="http://schemas.microsoft.com/office/drawing/2014/main" id="{34CAF270-A61A-81EB-C6B2-6447D7F74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9918" y="1273741"/>
            <a:ext cx="1440198" cy="1440198"/>
          </a:xfrm>
          <a:prstGeom prst="rect">
            <a:avLst/>
          </a:prstGeom>
        </p:spPr>
      </p:pic>
      <p:pic>
        <p:nvPicPr>
          <p:cNvPr id="7" name="Afbeelding 3" descr="Afbeelding met gereedschap, Huishoudelijke ijzerwaren, overdekt, zwart-wit&#10;&#10;Door AI gegenereerde inhoud is mogelijk onjuist.">
            <a:extLst>
              <a:ext uri="{FF2B5EF4-FFF2-40B4-BE49-F238E27FC236}">
                <a16:creationId xmlns:a16="http://schemas.microsoft.com/office/drawing/2014/main" id="{8119C939-0554-70CE-36DB-11C69AB1D6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83" r="4737" b="-4"/>
          <a:stretch>
            <a:fillRect/>
          </a:stretch>
        </p:blipFill>
        <p:spPr>
          <a:xfrm>
            <a:off x="6813795" y="1230679"/>
            <a:ext cx="1730359" cy="1431647"/>
          </a:xfrm>
          <a:prstGeom prst="rect">
            <a:avLst/>
          </a:prstGeom>
        </p:spPr>
      </p:pic>
      <p:pic>
        <p:nvPicPr>
          <p:cNvPr id="8" name="drawing">
            <a:extLst>
              <a:ext uri="{FF2B5EF4-FFF2-40B4-BE49-F238E27FC236}">
                <a16:creationId xmlns:a16="http://schemas.microsoft.com/office/drawing/2014/main" id="{2D615622-966D-F464-FA4A-F9DC2273E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7833" y="1286102"/>
            <a:ext cx="1760392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64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EC6B5-888F-52F1-45A9-C29145F7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Onderzoek</a:t>
            </a:r>
            <a:r>
              <a:rPr lang="en-US" dirty="0"/>
              <a:t> van </a:t>
            </a:r>
            <a:r>
              <a:rPr lang="en-US" dirty="0" err="1"/>
              <a:t>behuizing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44E60-904D-B8E0-7647-8827C85D3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09672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A0CE4-6455-76B7-4D1E-E48C1649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Architectuur</a:t>
            </a:r>
            <a:r>
              <a:rPr lang="en-US" dirty="0"/>
              <a:t> </a:t>
            </a:r>
            <a:r>
              <a:rPr lang="en-US" dirty="0" err="1"/>
              <a:t>ontwerp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7FB581-7615-91EB-1DB8-B6DB7CB20A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8877" y="1270000"/>
            <a:ext cx="9575597" cy="5679582"/>
          </a:xfrm>
        </p:spPr>
      </p:pic>
    </p:spTree>
    <p:extLst>
      <p:ext uri="{BB962C8B-B14F-4D97-AF65-F5344CB8AC3E}">
        <p14:creationId xmlns:p14="http://schemas.microsoft.com/office/powerpoint/2010/main" val="618870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4ABAA-C6B6-79C4-6422-5A03C7C3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71FF5-C1B8-C5CB-D6CB-277E7D7D2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32705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C4139-2347-3892-2990-912A0082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Testrapport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EEC29-4A2F-E105-1FB0-97D7952DE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6639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A30E6-AE39-C92B-CDF6-4B3224F6E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Windsnelheid</a:t>
            </a:r>
            <a:r>
              <a:rPr lang="en-US" dirty="0"/>
              <a:t> sensor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B333-1201-CA76-EE25-1C2EA8B48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8364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9B535-B432-F806-73D4-329B33ED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Windrichting</a:t>
            </a:r>
            <a:r>
              <a:rPr lang="en-US" dirty="0"/>
              <a:t> sensor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E0CC7-4DAC-5B7A-E4B7-2901F26A6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52928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0EB2-2DC4-C694-3683-5F4C78C45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Obstakels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2A8BB-A882-6474-87DE-AD2BCBBAA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983012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206</TotalTime>
  <Words>203</Words>
  <Application>Microsoft Office PowerPoint</Application>
  <PresentationFormat>Widescreen</PresentationFormat>
  <Paragraphs>122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Trebuchet MS</vt:lpstr>
      <vt:lpstr>Wingdings 3</vt:lpstr>
      <vt:lpstr>Facet</vt:lpstr>
      <vt:lpstr>Plastic vanger</vt:lpstr>
      <vt:lpstr>Inleiding </vt:lpstr>
      <vt:lpstr>Product owner (PO)</vt:lpstr>
      <vt:lpstr>Probleem omschrijving</vt:lpstr>
      <vt:lpstr>PowerPoint Presentation</vt:lpstr>
      <vt:lpstr>PowerPoint Presentation</vt:lpstr>
      <vt:lpstr>PowerPoint Presentation</vt:lpstr>
      <vt:lpstr>Requirments</vt:lpstr>
      <vt:lpstr>Userstories</vt:lpstr>
      <vt:lpstr>Onderzoek naar microcontroller</vt:lpstr>
      <vt:lpstr>Sensoren onderzoek</vt:lpstr>
      <vt:lpstr>Onderzoek van behuizing</vt:lpstr>
      <vt:lpstr>Architectuur ontwerp</vt:lpstr>
      <vt:lpstr>Flowchart</vt:lpstr>
      <vt:lpstr>Testrapport</vt:lpstr>
      <vt:lpstr>Windsnelheid sensor</vt:lpstr>
      <vt:lpstr>Windrichting sensor</vt:lpstr>
      <vt:lpstr>Obstakels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Merel van der Leeden (1103194)</dc:creator>
  <cp:lastModifiedBy>Pavlo Petrashkevych</cp:lastModifiedBy>
  <cp:revision>4</cp:revision>
  <dcterms:created xsi:type="dcterms:W3CDTF">2025-10-31T11:59:23Z</dcterms:created>
  <dcterms:modified xsi:type="dcterms:W3CDTF">2025-11-10T11:10:52Z</dcterms:modified>
</cp:coreProperties>
</file>